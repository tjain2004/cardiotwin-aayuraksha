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15C38064-502D-DF04-7715-912C7CC832B0}">
          <p14:sldIdLst>
            <p14:sldId id="256"/>
          </p14:sldIdLst>
        </p14:section>
        <p14:section name="Idea" id="{CF659D8A-3E5A-5B3A-313D-1241FC4F6B10}">
          <p14:sldIdLst>
            <p14:sldId id="257"/>
          </p14:sldIdLst>
        </p14:section>
        <p14:section name="Technical Approach" id="{362170A1-2AA5-7D59-D9A0-848656F01E29}">
          <p14:sldIdLst>
            <p14:sldId id="258"/>
          </p14:sldIdLst>
        </p14:section>
        <p14:section name="Feasibility" id="{B8729C59-110D-9D08-E690-E74B8E81122D}">
          <p14:sldIdLst>
            <p14:sldId id="259"/>
          </p14:sldIdLst>
        </p14:section>
        <p14:section name="Impact" id="{FF5E08E4-7786-B88A-040C-CB880104A531}">
          <p14:sldIdLst>
            <p14:sldId id="260"/>
          </p14:sldIdLst>
        </p14:section>
        <p14:section name="Research" id="{13E84DA0-3D6A-61FC-57D9-C74604ACCC47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4EE369-35AB-437D-924A-22196F15706A}" v="2" dt="2026-10-20T07:08:18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ay Yadav" userId="8f4669c7a4b85141" providerId="LiveId" clId="{B5F85550-6B1F-4D46-AD80-39606E146E96}"/>
    <pc:docChg chg="undo custSel modSld">
      <pc:chgData name="Pranay Yadav" userId="8f4669c7a4b85141" providerId="LiveId" clId="{B5F85550-6B1F-4D46-AD80-39606E146E96}" dt="2026-10-20T07:08:31.542" v="22" actId="20577"/>
      <pc:docMkLst>
        <pc:docMk/>
      </pc:docMkLst>
      <pc:sldChg chg="modSp mod">
        <pc:chgData name="Pranay Yadav" userId="8f4669c7a4b85141" providerId="LiveId" clId="{B5F85550-6B1F-4D46-AD80-39606E146E96}" dt="2026-10-20T07:08:31.542" v="22" actId="20577"/>
        <pc:sldMkLst>
          <pc:docMk/>
          <pc:sldMk cId="0" sldId="261"/>
        </pc:sldMkLst>
        <pc:spChg chg="mod">
          <ac:chgData name="Pranay Yadav" userId="8f4669c7a4b85141" providerId="LiveId" clId="{B5F85550-6B1F-4D46-AD80-39606E146E96}" dt="2026-10-20T07:08:31.542" v="22" actId="20577"/>
          <ac:spMkLst>
            <pc:docMk/>
            <pc:sldMk cId="0" sldId="261"/>
            <ac:spMk id="5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8E04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69F6-4AA6-8B89-21FD9738A0D3}"/>
              </c:ext>
            </c:extLst>
          </c:dPt>
          <c:dPt>
            <c:idx val="1"/>
            <c:bubble3D val="0"/>
            <c:spPr>
              <a:solidFill>
                <a:srgbClr val="E6E6E6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69F6-4AA6-8B89-21FD9738A0D3}"/>
              </c:ext>
            </c:extLst>
          </c:dPt>
          <c:cat>
            <c:strRef>
              <c:f>Sheet1!$A$2:$A$3</c:f>
              <c:strCache>
                <c:ptCount val="2"/>
                <c:pt idx="0">
                  <c:v>Risk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</c:v>
                </c:pt>
                <c:pt idx="1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9F6-4AA6-8B89-21FD9738A0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impact</c:v>
                </c:pt>
              </c:strCache>
            </c:strRef>
          </c:tx>
          <c:spPr>
            <a:solidFill>
              <a:srgbClr val="B82D2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Physical Activity</c:v>
                </c:pt>
                <c:pt idx="1">
                  <c:v>BMI</c:v>
                </c:pt>
                <c:pt idx="2">
                  <c:v>Cholesterol</c:v>
                </c:pt>
                <c:pt idx="3">
                  <c:v>Blood Pressure</c:v>
                </c:pt>
                <c:pt idx="4">
                  <c:v>Age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0.22</c:v>
                </c:pt>
                <c:pt idx="1">
                  <c:v>0.28000000000000003</c:v>
                </c:pt>
                <c:pt idx="2">
                  <c:v>0.4</c:v>
                </c:pt>
                <c:pt idx="3">
                  <c:v>0.55000000000000004</c:v>
                </c:pt>
                <c:pt idx="4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F4-4FF5-8727-DF409C34DD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5636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372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D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91440"/>
            <a:ext cx="86868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FFFFF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D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jpeg"/><Relationship Id="rId18" Type="http://schemas.openxmlformats.org/officeDocument/2006/relationships/image" Target="../media/image46.png"/><Relationship Id="rId3" Type="http://schemas.openxmlformats.org/officeDocument/2006/relationships/image" Target="../media/image4.png"/><Relationship Id="rId7" Type="http://schemas.openxmlformats.org/officeDocument/2006/relationships/image" Target="../media/image35.png"/><Relationship Id="rId12" Type="http://schemas.openxmlformats.org/officeDocument/2006/relationships/image" Target="../media/image40.jpe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4.jpe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jpe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26.png"/><Relationship Id="rId18" Type="http://schemas.openxmlformats.org/officeDocument/2006/relationships/image" Target="../media/image55.png"/><Relationship Id="rId3" Type="http://schemas.openxmlformats.org/officeDocument/2006/relationships/image" Target="../media/image4.png"/><Relationship Id="rId7" Type="http://schemas.openxmlformats.org/officeDocument/2006/relationships/image" Target="../media/image52.png"/><Relationship Id="rId12" Type="http://schemas.openxmlformats.org/officeDocument/2006/relationships/image" Target="../media/image34.pn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6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38.png"/><Relationship Id="rId5" Type="http://schemas.openxmlformats.org/officeDocument/2006/relationships/image" Target="../media/image50.png"/><Relationship Id="rId15" Type="http://schemas.openxmlformats.org/officeDocument/2006/relationships/chart" Target="../charts/chart1.xml"/><Relationship Id="rId10" Type="http://schemas.openxmlformats.org/officeDocument/2006/relationships/image" Target="../media/image54.png"/><Relationship Id="rId19" Type="http://schemas.openxmlformats.org/officeDocument/2006/relationships/image" Target="../media/image36.png"/><Relationship Id="rId4" Type="http://schemas.openxmlformats.org/officeDocument/2006/relationships/image" Target="../media/image49.png"/><Relationship Id="rId9" Type="http://schemas.openxmlformats.org/officeDocument/2006/relationships/image" Target="../media/image25.png"/><Relationship Id="rId1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-label"/>
          <p:cNvSpPr txBox="1"/>
          <p:nvPr/>
        </p:nvSpPr>
        <p:spPr>
          <a:xfrm>
            <a:off x="548640" y="2011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 Twin  |  Team AyuRaksha</a:t>
            </a:r>
            <a:endParaRPr lang="en-US" sz="1200" dirty="0"/>
          </a:p>
        </p:txBody>
      </p:sp>
      <p:pic>
        <p:nvPicPr>
          <p:cNvPr id="3" name="Image 0" descr="/tmp/claude-0/-home-claude/e3011655-2fd8-5a03-b361-35128aa000eb/scratchpad/hhx/ppt/media/image1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84648" y="0"/>
            <a:ext cx="7004304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00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CARDIOTWIN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3A3A3A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AI-Powered Cardiac &amp; CAD Health Companion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94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56367"/>
                </a:solidFill>
              </a:rPr>
              <a:t>Predict · Explain · Guide · Connect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2608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Tx/>
              <a:buChar char="●"/>
            </a:pPr>
            <a:r>
              <a:rPr lang="en-US" sz="1600" b="1" dirty="0">
                <a:solidFill>
                  <a:srgbClr val="B82D2F"/>
                </a:solidFill>
              </a:rPr>
              <a:t>Problem Statement - </a:t>
            </a:r>
            <a:r>
              <a:rPr lang="en-IN" sz="1600" dirty="0"/>
              <a:t>To address the lack of early cardiac risk awareness, explainable predictions, personalized health guidance, and accessible emergency support.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b="1" dirty="0">
                <a:solidFill>
                  <a:srgbClr val="B82D2F"/>
                </a:solidFill>
              </a:rPr>
              <a:t>Theme – </a:t>
            </a:r>
            <a:r>
              <a:rPr lang="en-US" sz="1600" dirty="0">
                <a:solidFill>
                  <a:srgbClr val="262626"/>
                </a:solidFill>
              </a:rPr>
              <a:t>MedTech / BioTech / HealthTech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b="1" dirty="0">
                <a:solidFill>
                  <a:srgbClr val="B82D2F"/>
                </a:solidFill>
              </a:rPr>
              <a:t>PS Category – </a:t>
            </a:r>
            <a:r>
              <a:rPr lang="en-US" sz="1600" dirty="0">
                <a:solidFill>
                  <a:srgbClr val="262626"/>
                </a:solidFill>
              </a:rPr>
              <a:t>Software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b="1" dirty="0">
                <a:solidFill>
                  <a:srgbClr val="B82D2F"/>
                </a:solidFill>
              </a:rPr>
              <a:t>Team Name – </a:t>
            </a:r>
            <a:r>
              <a:rPr lang="en-US" sz="1600" dirty="0">
                <a:solidFill>
                  <a:srgbClr val="262626"/>
                </a:solidFill>
              </a:rPr>
              <a:t>AyuRaksha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6172200"/>
            <a:ext cx="5184648" cy="685800"/>
          </a:xfrm>
          <a:prstGeom prst="rect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257695" y="6172200"/>
            <a:ext cx="47715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Happiest Health Hackathon 2026 · Idea Submission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am-label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74320"/>
            <a:ext cx="274320" cy="274320"/>
          </a:xfrm>
          <a:prstGeom prst="rect">
            <a:avLst/>
          </a:prstGeom>
        </p:spPr>
      </p:pic>
      <p:sp>
        <p:nvSpPr>
          <p:cNvPr id="3" name="team-label"/>
          <p:cNvSpPr txBox="1"/>
          <p:nvPr/>
        </p:nvSpPr>
        <p:spPr>
          <a:xfrm>
            <a:off x="9235440" y="228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 Twin  |  Team AyuRaksha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91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CARDIOTWIN: THE IDEA</a:t>
            </a:r>
            <a:endParaRPr lang="en-US" sz="3000" dirty="0"/>
          </a:p>
        </p:txBody>
      </p:sp>
      <p:sp>
        <p:nvSpPr>
          <p:cNvPr id="5" name="hdr-Problems-circle"/>
          <p:cNvSpPr/>
          <p:nvPr/>
        </p:nvSpPr>
        <p:spPr>
          <a:xfrm>
            <a:off x="274320" y="987552"/>
            <a:ext cx="274320" cy="274320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hdr-Problems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" y="1047902"/>
            <a:ext cx="153619" cy="15361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" y="9692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Problems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274320" y="1316736"/>
            <a:ext cx="5760720" cy="932688"/>
          </a:xfrm>
          <a:prstGeom prst="roundRect">
            <a:avLst>
              <a:gd name="adj" fmla="val 11765"/>
            </a:avLst>
          </a:prstGeom>
          <a:solidFill>
            <a:srgbClr val="7F1D1F"/>
          </a:solidFill>
          <a:ln w="9525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 txBox="1"/>
          <p:nvPr/>
        </p:nvSpPr>
        <p:spPr>
          <a:xfrm>
            <a:off x="411480" y="1389888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</a:rPr>
              <a:t>Late detection of cardiac deterioration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</a:rPr>
              <a:t>Scattered EHR, lab &amp; wearable data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</a:rPr>
              <a:t>Black-box AI with no explanations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</a:rPr>
              <a:t>Generic, one-size-fits-all thresholds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3246120" y="138988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</a:rPr>
              <a:t>Missing or stale sensor readings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</a:rPr>
              <a:t>No “what-if” view of risk changes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</a:rPr>
              <a:t>Limited real-time access to alerts</a:t>
            </a:r>
            <a:endParaRPr lang="en-US" sz="1050" dirty="0"/>
          </a:p>
        </p:txBody>
      </p:sp>
      <p:sp>
        <p:nvSpPr>
          <p:cNvPr id="11" name="hdr-Proposed Sol-circle"/>
          <p:cNvSpPr/>
          <p:nvPr/>
        </p:nvSpPr>
        <p:spPr>
          <a:xfrm>
            <a:off x="274320" y="2359152"/>
            <a:ext cx="274320" cy="274320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hdr-Proposed Sol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" y="2419502"/>
            <a:ext cx="153619" cy="15361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1792" y="23408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274320" y="2697480"/>
            <a:ext cx="57607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347472" y="2743200"/>
            <a:ext cx="237744" cy="237744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 txBox="1"/>
          <p:nvPr/>
        </p:nvSpPr>
        <p:spPr>
          <a:xfrm>
            <a:off x="347472" y="2743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269748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2D2F"/>
                </a:solidFill>
              </a:rPr>
              <a:t>Data Integration:</a:t>
            </a:r>
            <a:r>
              <a:rPr lang="en-US" sz="1050" dirty="0">
                <a:solidFill>
                  <a:srgbClr val="262626"/>
                </a:solidFill>
              </a:rPr>
              <a:t> Combines EHR, lab results and wearable vitals.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274320" y="3081528"/>
            <a:ext cx="57607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347472" y="3127248"/>
            <a:ext cx="237744" cy="237744"/>
          </a:xfrm>
          <a:prstGeom prst="ellipse">
            <a:avLst/>
          </a:prstGeom>
          <a:solidFill>
            <a:srgbClr val="7F1D1F"/>
          </a:solidFill>
          <a:ln w="12700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 txBox="1"/>
          <p:nvPr/>
        </p:nvSpPr>
        <p:spPr>
          <a:xfrm>
            <a:off x="347472" y="3127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85800" y="30815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2D2F"/>
                </a:solidFill>
              </a:rPr>
              <a:t>Dual AI Models:</a:t>
            </a:r>
            <a:r>
              <a:rPr lang="en-US" sz="1050" dirty="0">
                <a:solidFill>
                  <a:srgbClr val="262626"/>
                </a:solidFill>
              </a:rPr>
              <a:t> Full-data and watch-only cardiac risk prediction.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74320" y="3465576"/>
            <a:ext cx="57607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347472" y="3511296"/>
            <a:ext cx="237744" cy="237744"/>
          </a:xfrm>
          <a:prstGeom prst="ellips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 txBox="1"/>
          <p:nvPr/>
        </p:nvSpPr>
        <p:spPr>
          <a:xfrm>
            <a:off x="347472" y="35112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685800" y="346557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2D2F"/>
                </a:solidFill>
              </a:rPr>
              <a:t>Explainable AI:</a:t>
            </a:r>
            <a:r>
              <a:rPr lang="en-US" sz="1050" dirty="0">
                <a:solidFill>
                  <a:srgbClr val="262626"/>
                </a:solidFill>
              </a:rPr>
              <a:t> SHAP insights with SAR doctor reports.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274320" y="3849624"/>
            <a:ext cx="57607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347472" y="3895344"/>
            <a:ext cx="237744" cy="237744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 txBox="1"/>
          <p:nvPr/>
        </p:nvSpPr>
        <p:spPr>
          <a:xfrm>
            <a:off x="347472" y="3895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685800" y="384962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2D2F"/>
                </a:solidFill>
              </a:rPr>
              <a:t>Personalized Risk Engine:</a:t>
            </a:r>
            <a:r>
              <a:rPr lang="en-US" sz="1050" dirty="0">
                <a:solidFill>
                  <a:srgbClr val="262626"/>
                </a:solidFill>
              </a:rPr>
              <a:t> Patient baselines with Low / Moderate / High tiers.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274320" y="4233672"/>
            <a:ext cx="57607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347472" y="4279392"/>
            <a:ext cx="237744" cy="237744"/>
          </a:xfrm>
          <a:prstGeom prst="ellipse">
            <a:avLst/>
          </a:prstGeom>
          <a:solidFill>
            <a:srgbClr val="7F1D1F"/>
          </a:solidFill>
          <a:ln w="12700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 txBox="1"/>
          <p:nvPr/>
        </p:nvSpPr>
        <p:spPr>
          <a:xfrm>
            <a:off x="347472" y="4279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685800" y="423367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2D2F"/>
                </a:solidFill>
              </a:rPr>
              <a:t>Emergency Alerts:</a:t>
            </a:r>
            <a:r>
              <a:rPr lang="en-US" sz="1050" dirty="0">
                <a:solidFill>
                  <a:srgbClr val="262626"/>
                </a:solidFill>
              </a:rPr>
              <a:t> Independent warnings with a user-confirmed 112 call.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274320" y="4617720"/>
            <a:ext cx="57607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0"/>
          <p:cNvSpPr/>
          <p:nvPr/>
        </p:nvSpPr>
        <p:spPr>
          <a:xfrm>
            <a:off x="347472" y="4663440"/>
            <a:ext cx="237744" cy="237744"/>
          </a:xfrm>
          <a:prstGeom prst="ellips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 txBox="1"/>
          <p:nvPr/>
        </p:nvSpPr>
        <p:spPr>
          <a:xfrm>
            <a:off x="347472" y="4663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685800" y="461772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2D2F"/>
                </a:solidFill>
              </a:rPr>
              <a:t>What-If Simulator:</a:t>
            </a:r>
            <a:r>
              <a:rPr lang="en-US" sz="1050" dirty="0">
                <a:solidFill>
                  <a:srgbClr val="262626"/>
                </a:solidFill>
              </a:rPr>
              <a:t> Predicts risk changes under different health scenarios.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274320" y="5001768"/>
            <a:ext cx="57607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4"/>
          <p:cNvSpPr/>
          <p:nvPr/>
        </p:nvSpPr>
        <p:spPr>
          <a:xfrm>
            <a:off x="347472" y="5047488"/>
            <a:ext cx="237744" cy="237744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5"/>
          <p:cNvSpPr txBox="1"/>
          <p:nvPr/>
        </p:nvSpPr>
        <p:spPr>
          <a:xfrm>
            <a:off x="347472" y="5047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685800" y="50017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2D2F"/>
                </a:solidFill>
              </a:rPr>
              <a:t>Smart Delivery:</a:t>
            </a:r>
            <a:r>
              <a:rPr lang="en-US" sz="1050" dirty="0">
                <a:solidFill>
                  <a:srgbClr val="262626"/>
                </a:solidFill>
              </a:rPr>
              <a:t> Android app, virtual watch and Wear OS (planned).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274320" y="539496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56367"/>
                </a:solidFill>
              </a:rPr>
              <a:t>Proof of concept built on public / replayed clinical data — not a diagnostic device.</a:t>
            </a:r>
            <a:endParaRPr lang="en-US" sz="950" dirty="0"/>
          </a:p>
        </p:txBody>
      </p:sp>
      <p:sp>
        <p:nvSpPr>
          <p:cNvPr id="43" name="hdr-Personalized-circle"/>
          <p:cNvSpPr/>
          <p:nvPr/>
        </p:nvSpPr>
        <p:spPr>
          <a:xfrm>
            <a:off x="274320" y="5687568"/>
            <a:ext cx="274320" cy="274320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4" name="hdr-Personalized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70" y="5747918"/>
            <a:ext cx="153619" cy="153619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621792" y="56692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Personalized Risk Tiers</a:t>
            </a:r>
            <a:endParaRPr lang="en-US" sz="1500" dirty="0"/>
          </a:p>
        </p:txBody>
      </p:sp>
      <p:sp>
        <p:nvSpPr>
          <p:cNvPr id="46" name="Shape 40"/>
          <p:cNvSpPr/>
          <p:nvPr/>
        </p:nvSpPr>
        <p:spPr>
          <a:xfrm>
            <a:off x="274320" y="6035040"/>
            <a:ext cx="185623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1"/>
          <p:cNvSpPr/>
          <p:nvPr/>
        </p:nvSpPr>
        <p:spPr>
          <a:xfrm>
            <a:off x="365760" y="6099048"/>
            <a:ext cx="1673352" cy="21945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2"/>
          <p:cNvSpPr txBox="1"/>
          <p:nvPr/>
        </p:nvSpPr>
        <p:spPr>
          <a:xfrm>
            <a:off x="365760" y="6099048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LOW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320040" y="6345936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</a:rPr>
              <a:t>Within personal baseline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2221992" y="6035040"/>
            <a:ext cx="185623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5875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5"/>
          <p:cNvSpPr/>
          <p:nvPr/>
        </p:nvSpPr>
        <p:spPr>
          <a:xfrm>
            <a:off x="2313432" y="6099048"/>
            <a:ext cx="1673352" cy="219456"/>
          </a:xfrm>
          <a:prstGeom prst="roundRect">
            <a:avLst>
              <a:gd name="adj" fmla="val 50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6"/>
          <p:cNvSpPr txBox="1"/>
          <p:nvPr/>
        </p:nvSpPr>
        <p:spPr>
          <a:xfrm>
            <a:off x="2313432" y="6099048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MODERATE</a:t>
            </a:r>
            <a:endParaRPr lang="en-US" sz="1000" dirty="0"/>
          </a:p>
        </p:txBody>
      </p:sp>
      <p:sp>
        <p:nvSpPr>
          <p:cNvPr id="53" name="Text 47"/>
          <p:cNvSpPr txBox="1"/>
          <p:nvPr/>
        </p:nvSpPr>
        <p:spPr>
          <a:xfrm>
            <a:off x="2267712" y="6345936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</a:rPr>
              <a:t>Score ≥ 3.62% · watch closely</a:t>
            </a:r>
            <a:endParaRPr lang="en-US" sz="950" dirty="0"/>
          </a:p>
        </p:txBody>
      </p:sp>
      <p:sp>
        <p:nvSpPr>
          <p:cNvPr id="54" name="Shape 48"/>
          <p:cNvSpPr/>
          <p:nvPr/>
        </p:nvSpPr>
        <p:spPr>
          <a:xfrm>
            <a:off x="4169664" y="6035040"/>
            <a:ext cx="185623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587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49"/>
          <p:cNvSpPr/>
          <p:nvPr/>
        </p:nvSpPr>
        <p:spPr>
          <a:xfrm>
            <a:off x="4261104" y="6099048"/>
            <a:ext cx="1673352" cy="219456"/>
          </a:xfrm>
          <a:prstGeom prst="roundRect">
            <a:avLst>
              <a:gd name="adj" fmla="val 50000"/>
            </a:avLst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0"/>
          <p:cNvSpPr txBox="1"/>
          <p:nvPr/>
        </p:nvSpPr>
        <p:spPr>
          <a:xfrm>
            <a:off x="4261104" y="6099048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</a:t>
            </a:r>
            <a:endParaRPr lang="en-US" sz="1000" dirty="0"/>
          </a:p>
        </p:txBody>
      </p:sp>
      <p:sp>
        <p:nvSpPr>
          <p:cNvPr id="57" name="Text 51"/>
          <p:cNvSpPr txBox="1"/>
          <p:nvPr/>
        </p:nvSpPr>
        <p:spPr>
          <a:xfrm>
            <a:off x="4215384" y="6345936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</a:rPr>
              <a:t>Score ≥ 7.59% · alert + report</a:t>
            </a:r>
            <a:endParaRPr lang="en-US" sz="950" dirty="0"/>
          </a:p>
        </p:txBody>
      </p:sp>
      <p:sp>
        <p:nvSpPr>
          <p:cNvPr id="58" name="Shape 52"/>
          <p:cNvSpPr/>
          <p:nvPr/>
        </p:nvSpPr>
        <p:spPr>
          <a:xfrm>
            <a:off x="6492240" y="987552"/>
            <a:ext cx="5212080" cy="347472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3"/>
          <p:cNvSpPr/>
          <p:nvPr/>
        </p:nvSpPr>
        <p:spPr>
          <a:xfrm>
            <a:off x="6556248" y="105156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3A3A3A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4"/>
          <p:cNvSpPr txBox="1"/>
          <p:nvPr/>
        </p:nvSpPr>
        <p:spPr>
          <a:xfrm>
            <a:off x="6556248" y="10515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Data</a:t>
            </a:r>
            <a:endParaRPr lang="en-US" sz="800" dirty="0"/>
          </a:p>
        </p:txBody>
      </p:sp>
      <p:sp>
        <p:nvSpPr>
          <p:cNvPr id="61" name="Shape 55"/>
          <p:cNvSpPr/>
          <p:nvPr/>
        </p:nvSpPr>
        <p:spPr>
          <a:xfrm>
            <a:off x="6556248" y="1316736"/>
            <a:ext cx="960120" cy="713232"/>
          </a:xfrm>
          <a:prstGeom prst="roundRect">
            <a:avLst>
              <a:gd name="adj" fmla="val 6410"/>
            </a:avLst>
          </a:prstGeom>
          <a:solidFill>
            <a:srgbClr val="F7F7F7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5724" y="1371600"/>
            <a:ext cx="201168" cy="201168"/>
          </a:xfrm>
          <a:prstGeom prst="rect">
            <a:avLst/>
          </a:prstGeom>
        </p:spPr>
      </p:pic>
      <p:sp>
        <p:nvSpPr>
          <p:cNvPr id="63" name="Text 56"/>
          <p:cNvSpPr txBox="1"/>
          <p:nvPr/>
        </p:nvSpPr>
        <p:spPr>
          <a:xfrm>
            <a:off x="6583680" y="1591056"/>
            <a:ext cx="905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 User</a:t>
            </a:r>
            <a:endParaRPr lang="en-US" sz="7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app</a:t>
            </a:r>
            <a:endParaRPr lang="en-US" sz="750" dirty="0"/>
          </a:p>
        </p:txBody>
      </p:sp>
      <p:sp>
        <p:nvSpPr>
          <p:cNvPr id="64" name="Shape 57"/>
          <p:cNvSpPr/>
          <p:nvPr/>
        </p:nvSpPr>
        <p:spPr>
          <a:xfrm>
            <a:off x="6556248" y="2093976"/>
            <a:ext cx="960120" cy="713232"/>
          </a:xfrm>
          <a:prstGeom prst="roundRect">
            <a:avLst>
              <a:gd name="adj" fmla="val 6410"/>
            </a:avLst>
          </a:prstGeom>
          <a:solidFill>
            <a:srgbClr val="F7F7F7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5724" y="2148840"/>
            <a:ext cx="201168" cy="201168"/>
          </a:xfrm>
          <a:prstGeom prst="rect">
            <a:avLst/>
          </a:prstGeom>
        </p:spPr>
      </p:pic>
      <p:sp>
        <p:nvSpPr>
          <p:cNvPr id="66" name="Text 58"/>
          <p:cNvSpPr txBox="1"/>
          <p:nvPr/>
        </p:nvSpPr>
        <p:spPr>
          <a:xfrm>
            <a:off x="6583680" y="2368296"/>
            <a:ext cx="905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</a:t>
            </a:r>
            <a:endParaRPr lang="en-US" sz="7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SpO₂, sleep, BP</a:t>
            </a:r>
            <a:endParaRPr lang="en-US" sz="750" dirty="0"/>
          </a:p>
        </p:txBody>
      </p:sp>
      <p:sp>
        <p:nvSpPr>
          <p:cNvPr id="67" name="Shape 59"/>
          <p:cNvSpPr/>
          <p:nvPr/>
        </p:nvSpPr>
        <p:spPr>
          <a:xfrm>
            <a:off x="6556248" y="2871216"/>
            <a:ext cx="960120" cy="713232"/>
          </a:xfrm>
          <a:prstGeom prst="roundRect">
            <a:avLst>
              <a:gd name="adj" fmla="val 6410"/>
            </a:avLst>
          </a:prstGeom>
          <a:solidFill>
            <a:srgbClr val="F7F7F7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5724" y="2926080"/>
            <a:ext cx="201168" cy="201168"/>
          </a:xfrm>
          <a:prstGeom prst="rect">
            <a:avLst/>
          </a:prstGeom>
        </p:spPr>
      </p:pic>
      <p:sp>
        <p:nvSpPr>
          <p:cNvPr id="69" name="Text 60"/>
          <p:cNvSpPr txBox="1"/>
          <p:nvPr/>
        </p:nvSpPr>
        <p:spPr>
          <a:xfrm>
            <a:off x="6583680" y="3145536"/>
            <a:ext cx="905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</a:t>
            </a:r>
            <a:endParaRPr lang="en-US" sz="7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Labs, vitals, history</a:t>
            </a:r>
            <a:endParaRPr lang="en-US" sz="750" dirty="0"/>
          </a:p>
        </p:txBody>
      </p:sp>
      <p:sp>
        <p:nvSpPr>
          <p:cNvPr id="70" name="Shape 61"/>
          <p:cNvSpPr/>
          <p:nvPr/>
        </p:nvSpPr>
        <p:spPr>
          <a:xfrm>
            <a:off x="6556248" y="3648456"/>
            <a:ext cx="960120" cy="713232"/>
          </a:xfrm>
          <a:prstGeom prst="roundRect">
            <a:avLst>
              <a:gd name="adj" fmla="val 6410"/>
            </a:avLst>
          </a:prstGeom>
          <a:solidFill>
            <a:srgbClr val="F7F7F7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5724" y="3703320"/>
            <a:ext cx="201168" cy="201168"/>
          </a:xfrm>
          <a:prstGeom prst="rect">
            <a:avLst/>
          </a:prstGeom>
        </p:spPr>
      </p:pic>
      <p:sp>
        <p:nvSpPr>
          <p:cNvPr id="72" name="Text 62"/>
          <p:cNvSpPr txBox="1"/>
          <p:nvPr/>
        </p:nvSpPr>
        <p:spPr>
          <a:xfrm>
            <a:off x="6583680" y="3922776"/>
            <a:ext cx="905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/ Caregiver</a:t>
            </a:r>
            <a:endParaRPr lang="en-US" sz="7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Consent-based access</a:t>
            </a:r>
            <a:endParaRPr lang="en-US" sz="750" dirty="0"/>
          </a:p>
        </p:txBody>
      </p:sp>
      <p:sp>
        <p:nvSpPr>
          <p:cNvPr id="73" name="Shape 63"/>
          <p:cNvSpPr/>
          <p:nvPr/>
        </p:nvSpPr>
        <p:spPr>
          <a:xfrm>
            <a:off x="7607808" y="1051560"/>
            <a:ext cx="298094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64"/>
          <p:cNvSpPr/>
          <p:nvPr/>
        </p:nvSpPr>
        <p:spPr>
          <a:xfrm>
            <a:off x="7607808" y="1051560"/>
            <a:ext cx="2980944" cy="182880"/>
          </a:xfrm>
          <a:prstGeom prst="roundRect">
            <a:avLst>
              <a:gd name="adj" fmla="val 25000"/>
            </a:avLst>
          </a:prstGeom>
          <a:solidFill>
            <a:srgbClr val="B82D2F"/>
          </a:solidFill>
          <a:ln w="952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65"/>
          <p:cNvSpPr txBox="1"/>
          <p:nvPr/>
        </p:nvSpPr>
        <p:spPr>
          <a:xfrm>
            <a:off x="7680960" y="1051560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 (Web / Mobile)</a:t>
            </a:r>
            <a:endParaRPr lang="en-US" sz="800" dirty="0"/>
          </a:p>
        </p:txBody>
      </p:sp>
      <p:sp>
        <p:nvSpPr>
          <p:cNvPr id="76" name="Shape 66"/>
          <p:cNvSpPr/>
          <p:nvPr/>
        </p:nvSpPr>
        <p:spPr>
          <a:xfrm>
            <a:off x="7653528" y="1280160"/>
            <a:ext cx="45110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67"/>
          <p:cNvSpPr txBox="1"/>
          <p:nvPr/>
        </p:nvSpPr>
        <p:spPr>
          <a:xfrm>
            <a:off x="7671816" y="1280160"/>
            <a:ext cx="41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50" dirty="0"/>
          </a:p>
        </p:txBody>
      </p:sp>
      <p:sp>
        <p:nvSpPr>
          <p:cNvPr id="78" name="Shape 68"/>
          <p:cNvSpPr/>
          <p:nvPr/>
        </p:nvSpPr>
        <p:spPr>
          <a:xfrm>
            <a:off x="8141208" y="1280160"/>
            <a:ext cx="45110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69"/>
          <p:cNvSpPr txBox="1"/>
          <p:nvPr/>
        </p:nvSpPr>
        <p:spPr>
          <a:xfrm>
            <a:off x="8159496" y="1280160"/>
            <a:ext cx="41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650" dirty="0"/>
          </a:p>
        </p:txBody>
      </p:sp>
      <p:sp>
        <p:nvSpPr>
          <p:cNvPr id="80" name="Shape 70"/>
          <p:cNvSpPr/>
          <p:nvPr/>
        </p:nvSpPr>
        <p:spPr>
          <a:xfrm>
            <a:off x="8628888" y="1280160"/>
            <a:ext cx="45110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1"/>
          <p:cNvSpPr txBox="1"/>
          <p:nvPr/>
        </p:nvSpPr>
        <p:spPr>
          <a:xfrm>
            <a:off x="8647176" y="1280160"/>
            <a:ext cx="41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Navigation</a:t>
            </a:r>
            <a:endParaRPr lang="en-US" sz="650" dirty="0"/>
          </a:p>
        </p:txBody>
      </p:sp>
      <p:sp>
        <p:nvSpPr>
          <p:cNvPr id="82" name="Shape 72"/>
          <p:cNvSpPr/>
          <p:nvPr/>
        </p:nvSpPr>
        <p:spPr>
          <a:xfrm>
            <a:off x="9116568" y="1280160"/>
            <a:ext cx="45110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73"/>
          <p:cNvSpPr txBox="1"/>
          <p:nvPr/>
        </p:nvSpPr>
        <p:spPr>
          <a:xfrm>
            <a:off x="9134856" y="1280160"/>
            <a:ext cx="41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&amp; Exercise</a:t>
            </a:r>
            <a:endParaRPr lang="en-US" sz="650" dirty="0"/>
          </a:p>
        </p:txBody>
      </p:sp>
      <p:sp>
        <p:nvSpPr>
          <p:cNvPr id="84" name="Shape 74"/>
          <p:cNvSpPr/>
          <p:nvPr/>
        </p:nvSpPr>
        <p:spPr>
          <a:xfrm>
            <a:off x="9604248" y="1280160"/>
            <a:ext cx="45110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75"/>
          <p:cNvSpPr txBox="1"/>
          <p:nvPr/>
        </p:nvSpPr>
        <p:spPr>
          <a:xfrm>
            <a:off x="9622536" y="1280160"/>
            <a:ext cx="41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Center</a:t>
            </a:r>
            <a:endParaRPr lang="en-US" sz="650" dirty="0"/>
          </a:p>
        </p:txBody>
      </p:sp>
      <p:sp>
        <p:nvSpPr>
          <p:cNvPr id="86" name="Shape 76"/>
          <p:cNvSpPr/>
          <p:nvPr/>
        </p:nvSpPr>
        <p:spPr>
          <a:xfrm>
            <a:off x="10091928" y="1280160"/>
            <a:ext cx="45110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77"/>
          <p:cNvSpPr txBox="1"/>
          <p:nvPr/>
        </p:nvSpPr>
        <p:spPr>
          <a:xfrm>
            <a:off x="10110216" y="1280160"/>
            <a:ext cx="41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650" dirty="0"/>
          </a:p>
        </p:txBody>
      </p:sp>
      <p:sp>
        <p:nvSpPr>
          <p:cNvPr id="88" name="Shape 78"/>
          <p:cNvSpPr/>
          <p:nvPr/>
        </p:nvSpPr>
        <p:spPr>
          <a:xfrm>
            <a:off x="9098280" y="1673352"/>
            <a:ext cx="914" cy="54864"/>
          </a:xfrm>
          <a:prstGeom prst="line">
            <a:avLst/>
          </a:prstGeom>
          <a:noFill/>
          <a:ln w="12700">
            <a:solidFill>
              <a:srgbClr val="65636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79"/>
          <p:cNvSpPr/>
          <p:nvPr/>
        </p:nvSpPr>
        <p:spPr>
          <a:xfrm>
            <a:off x="7607808" y="1728216"/>
            <a:ext cx="298094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0"/>
          <p:cNvSpPr/>
          <p:nvPr/>
        </p:nvSpPr>
        <p:spPr>
          <a:xfrm>
            <a:off x="7607808" y="1728216"/>
            <a:ext cx="2980944" cy="182880"/>
          </a:xfrm>
          <a:prstGeom prst="roundRect">
            <a:avLst>
              <a:gd name="adj" fmla="val 25000"/>
            </a:avLst>
          </a:prstGeom>
          <a:solidFill>
            <a:srgbClr val="7F1D1F"/>
          </a:solidFill>
          <a:ln w="9525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1"/>
          <p:cNvSpPr txBox="1"/>
          <p:nvPr/>
        </p:nvSpPr>
        <p:spPr>
          <a:xfrm>
            <a:off x="7680960" y="1728216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 (APIs &amp; Services)</a:t>
            </a:r>
            <a:endParaRPr lang="en-US" sz="800" dirty="0"/>
          </a:p>
        </p:txBody>
      </p:sp>
      <p:sp>
        <p:nvSpPr>
          <p:cNvPr id="92" name="Shape 82"/>
          <p:cNvSpPr/>
          <p:nvPr/>
        </p:nvSpPr>
        <p:spPr>
          <a:xfrm>
            <a:off x="7653528" y="1956816"/>
            <a:ext cx="45110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3"/>
          <p:cNvSpPr txBox="1"/>
          <p:nvPr/>
        </p:nvSpPr>
        <p:spPr>
          <a:xfrm>
            <a:off x="7671816" y="1956816"/>
            <a:ext cx="41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Access</a:t>
            </a:r>
            <a:endParaRPr lang="en-US" sz="650" dirty="0"/>
          </a:p>
        </p:txBody>
      </p:sp>
      <p:sp>
        <p:nvSpPr>
          <p:cNvPr id="94" name="Shape 84"/>
          <p:cNvSpPr/>
          <p:nvPr/>
        </p:nvSpPr>
        <p:spPr>
          <a:xfrm>
            <a:off x="8141208" y="1956816"/>
            <a:ext cx="45110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85"/>
          <p:cNvSpPr txBox="1"/>
          <p:nvPr/>
        </p:nvSpPr>
        <p:spPr>
          <a:xfrm>
            <a:off x="8159496" y="1956816"/>
            <a:ext cx="41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Service</a:t>
            </a:r>
            <a:endParaRPr lang="en-US" sz="650" dirty="0"/>
          </a:p>
        </p:txBody>
      </p:sp>
      <p:sp>
        <p:nvSpPr>
          <p:cNvPr id="96" name="Shape 86"/>
          <p:cNvSpPr/>
          <p:nvPr/>
        </p:nvSpPr>
        <p:spPr>
          <a:xfrm>
            <a:off x="8628888" y="1956816"/>
            <a:ext cx="45110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87"/>
          <p:cNvSpPr txBox="1"/>
          <p:nvPr/>
        </p:nvSpPr>
        <p:spPr>
          <a:xfrm>
            <a:off x="8647176" y="1956816"/>
            <a:ext cx="41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Insights</a:t>
            </a:r>
            <a:endParaRPr lang="en-US" sz="650" dirty="0"/>
          </a:p>
        </p:txBody>
      </p:sp>
      <p:sp>
        <p:nvSpPr>
          <p:cNvPr id="98" name="Shape 88"/>
          <p:cNvSpPr/>
          <p:nvPr/>
        </p:nvSpPr>
        <p:spPr>
          <a:xfrm>
            <a:off x="9116568" y="1956816"/>
            <a:ext cx="45110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89"/>
          <p:cNvSpPr txBox="1"/>
          <p:nvPr/>
        </p:nvSpPr>
        <p:spPr>
          <a:xfrm>
            <a:off x="9134856" y="1956816"/>
            <a:ext cx="41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Service</a:t>
            </a:r>
            <a:endParaRPr lang="en-US" sz="650" dirty="0"/>
          </a:p>
        </p:txBody>
      </p:sp>
      <p:sp>
        <p:nvSpPr>
          <p:cNvPr id="100" name="Shape 90"/>
          <p:cNvSpPr/>
          <p:nvPr/>
        </p:nvSpPr>
        <p:spPr>
          <a:xfrm>
            <a:off x="9604248" y="1956816"/>
            <a:ext cx="45110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1"/>
          <p:cNvSpPr txBox="1"/>
          <p:nvPr/>
        </p:nvSpPr>
        <p:spPr>
          <a:xfrm>
            <a:off x="9622536" y="1956816"/>
            <a:ext cx="41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Service</a:t>
            </a:r>
            <a:endParaRPr lang="en-US" sz="650" dirty="0"/>
          </a:p>
        </p:txBody>
      </p:sp>
      <p:sp>
        <p:nvSpPr>
          <p:cNvPr id="102" name="Shape 92"/>
          <p:cNvSpPr/>
          <p:nvPr/>
        </p:nvSpPr>
        <p:spPr>
          <a:xfrm>
            <a:off x="10091928" y="1956816"/>
            <a:ext cx="45110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3"/>
          <p:cNvSpPr txBox="1"/>
          <p:nvPr/>
        </p:nvSpPr>
        <p:spPr>
          <a:xfrm>
            <a:off x="10110216" y="1956816"/>
            <a:ext cx="41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650" dirty="0"/>
          </a:p>
        </p:txBody>
      </p:sp>
      <p:sp>
        <p:nvSpPr>
          <p:cNvPr id="104" name="Shape 94"/>
          <p:cNvSpPr/>
          <p:nvPr/>
        </p:nvSpPr>
        <p:spPr>
          <a:xfrm>
            <a:off x="9098280" y="2350008"/>
            <a:ext cx="914" cy="54864"/>
          </a:xfrm>
          <a:prstGeom prst="line">
            <a:avLst/>
          </a:prstGeom>
          <a:noFill/>
          <a:ln w="12700">
            <a:solidFill>
              <a:srgbClr val="65636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95"/>
          <p:cNvSpPr/>
          <p:nvPr/>
        </p:nvSpPr>
        <p:spPr>
          <a:xfrm>
            <a:off x="7607808" y="2404872"/>
            <a:ext cx="298094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96"/>
          <p:cNvSpPr/>
          <p:nvPr/>
        </p:nvSpPr>
        <p:spPr>
          <a:xfrm>
            <a:off x="7607808" y="2404872"/>
            <a:ext cx="2980944" cy="182880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97"/>
          <p:cNvSpPr txBox="1"/>
          <p:nvPr/>
        </p:nvSpPr>
        <p:spPr>
          <a:xfrm>
            <a:off x="7680960" y="2404872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Layer</a:t>
            </a:r>
            <a:endParaRPr lang="en-US" sz="800" dirty="0"/>
          </a:p>
        </p:txBody>
      </p:sp>
      <p:sp>
        <p:nvSpPr>
          <p:cNvPr id="108" name="Shape 98"/>
          <p:cNvSpPr/>
          <p:nvPr/>
        </p:nvSpPr>
        <p:spPr>
          <a:xfrm>
            <a:off x="7653528" y="2633472"/>
            <a:ext cx="93878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99"/>
          <p:cNvSpPr txBox="1"/>
          <p:nvPr/>
        </p:nvSpPr>
        <p:spPr>
          <a:xfrm>
            <a:off x="7671816" y="2633472"/>
            <a:ext cx="902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Risk Models (LGBM, XGB, RF, LR)</a:t>
            </a:r>
            <a:endParaRPr lang="en-US" sz="650" dirty="0"/>
          </a:p>
        </p:txBody>
      </p:sp>
      <p:sp>
        <p:nvSpPr>
          <p:cNvPr id="110" name="Shape 100"/>
          <p:cNvSpPr/>
          <p:nvPr/>
        </p:nvSpPr>
        <p:spPr>
          <a:xfrm>
            <a:off x="8628888" y="2633472"/>
            <a:ext cx="93878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1"/>
          <p:cNvSpPr txBox="1"/>
          <p:nvPr/>
        </p:nvSpPr>
        <p:spPr>
          <a:xfrm>
            <a:off x="8647176" y="2633472"/>
            <a:ext cx="902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(SHAP + Ensemble)</a:t>
            </a:r>
            <a:endParaRPr lang="en-US" sz="650" dirty="0"/>
          </a:p>
        </p:txBody>
      </p:sp>
      <p:sp>
        <p:nvSpPr>
          <p:cNvPr id="112" name="Shape 102"/>
          <p:cNvSpPr/>
          <p:nvPr/>
        </p:nvSpPr>
        <p:spPr>
          <a:xfrm>
            <a:off x="9604248" y="2633472"/>
            <a:ext cx="93878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03"/>
          <p:cNvSpPr txBox="1"/>
          <p:nvPr/>
        </p:nvSpPr>
        <p:spPr>
          <a:xfrm>
            <a:off x="9622536" y="2633472"/>
            <a:ext cx="902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&amp; Features</a:t>
            </a:r>
            <a:endParaRPr lang="en-US" sz="650" dirty="0"/>
          </a:p>
        </p:txBody>
      </p:sp>
      <p:sp>
        <p:nvSpPr>
          <p:cNvPr id="114" name="Shape 104"/>
          <p:cNvSpPr/>
          <p:nvPr/>
        </p:nvSpPr>
        <p:spPr>
          <a:xfrm>
            <a:off x="9098280" y="3026664"/>
            <a:ext cx="914" cy="54864"/>
          </a:xfrm>
          <a:prstGeom prst="line">
            <a:avLst/>
          </a:prstGeom>
          <a:noFill/>
          <a:ln w="12700">
            <a:solidFill>
              <a:srgbClr val="65636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05"/>
          <p:cNvSpPr/>
          <p:nvPr/>
        </p:nvSpPr>
        <p:spPr>
          <a:xfrm>
            <a:off x="7607808" y="3081528"/>
            <a:ext cx="298094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Shape 106"/>
          <p:cNvSpPr/>
          <p:nvPr/>
        </p:nvSpPr>
        <p:spPr>
          <a:xfrm>
            <a:off x="7607808" y="3081528"/>
            <a:ext cx="2980944" cy="182880"/>
          </a:xfrm>
          <a:prstGeom prst="roundRect">
            <a:avLst>
              <a:gd name="adj" fmla="val 25000"/>
            </a:avLst>
          </a:prstGeom>
          <a:solidFill>
            <a:srgbClr val="B82D2F"/>
          </a:solidFill>
          <a:ln w="952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07"/>
          <p:cNvSpPr txBox="1"/>
          <p:nvPr/>
        </p:nvSpPr>
        <p:spPr>
          <a:xfrm>
            <a:off x="7680960" y="3081528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00" dirty="0"/>
          </a:p>
        </p:txBody>
      </p:sp>
      <p:sp>
        <p:nvSpPr>
          <p:cNvPr id="118" name="Shape 108"/>
          <p:cNvSpPr/>
          <p:nvPr/>
        </p:nvSpPr>
        <p:spPr>
          <a:xfrm>
            <a:off x="7653528" y="3310128"/>
            <a:ext cx="45110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09"/>
          <p:cNvSpPr txBox="1"/>
          <p:nvPr/>
        </p:nvSpPr>
        <p:spPr>
          <a:xfrm>
            <a:off x="7671816" y="3310128"/>
            <a:ext cx="41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</a:t>
            </a:r>
            <a:endParaRPr lang="en-US" sz="650" dirty="0"/>
          </a:p>
        </p:txBody>
      </p:sp>
      <p:sp>
        <p:nvSpPr>
          <p:cNvPr id="120" name="Shape 110"/>
          <p:cNvSpPr/>
          <p:nvPr/>
        </p:nvSpPr>
        <p:spPr>
          <a:xfrm>
            <a:off x="8141208" y="3310128"/>
            <a:ext cx="45110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Text 111"/>
          <p:cNvSpPr txBox="1"/>
          <p:nvPr/>
        </p:nvSpPr>
        <p:spPr>
          <a:xfrm>
            <a:off x="8159496" y="3310128"/>
            <a:ext cx="41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</a:t>
            </a:r>
            <a:endParaRPr lang="en-US" sz="650" dirty="0"/>
          </a:p>
        </p:txBody>
      </p:sp>
      <p:sp>
        <p:nvSpPr>
          <p:cNvPr id="122" name="Shape 112"/>
          <p:cNvSpPr/>
          <p:nvPr/>
        </p:nvSpPr>
        <p:spPr>
          <a:xfrm>
            <a:off x="8628888" y="3310128"/>
            <a:ext cx="45110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Text 113"/>
          <p:cNvSpPr txBox="1"/>
          <p:nvPr/>
        </p:nvSpPr>
        <p:spPr>
          <a:xfrm>
            <a:off x="8647176" y="3310128"/>
            <a:ext cx="41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Data</a:t>
            </a:r>
            <a:endParaRPr lang="en-US" sz="650" dirty="0"/>
          </a:p>
        </p:txBody>
      </p:sp>
      <p:sp>
        <p:nvSpPr>
          <p:cNvPr id="124" name="Shape 114"/>
          <p:cNvSpPr/>
          <p:nvPr/>
        </p:nvSpPr>
        <p:spPr>
          <a:xfrm>
            <a:off x="9116568" y="3310128"/>
            <a:ext cx="45110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15"/>
          <p:cNvSpPr txBox="1"/>
          <p:nvPr/>
        </p:nvSpPr>
        <p:spPr>
          <a:xfrm>
            <a:off x="9134856" y="3310128"/>
            <a:ext cx="41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</a:t>
            </a:r>
            <a:endParaRPr lang="en-US" sz="650" dirty="0"/>
          </a:p>
        </p:txBody>
      </p:sp>
      <p:sp>
        <p:nvSpPr>
          <p:cNvPr id="126" name="Shape 116"/>
          <p:cNvSpPr/>
          <p:nvPr/>
        </p:nvSpPr>
        <p:spPr>
          <a:xfrm>
            <a:off x="9604248" y="3310128"/>
            <a:ext cx="45110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17"/>
          <p:cNvSpPr txBox="1"/>
          <p:nvPr/>
        </p:nvSpPr>
        <p:spPr>
          <a:xfrm>
            <a:off x="9622536" y="3310128"/>
            <a:ext cx="41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&amp; Alerts</a:t>
            </a:r>
            <a:endParaRPr lang="en-US" sz="650" dirty="0"/>
          </a:p>
        </p:txBody>
      </p:sp>
      <p:sp>
        <p:nvSpPr>
          <p:cNvPr id="128" name="Shape 118"/>
          <p:cNvSpPr/>
          <p:nvPr/>
        </p:nvSpPr>
        <p:spPr>
          <a:xfrm>
            <a:off x="10091928" y="3310128"/>
            <a:ext cx="451104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Text 119"/>
          <p:cNvSpPr txBox="1"/>
          <p:nvPr/>
        </p:nvSpPr>
        <p:spPr>
          <a:xfrm>
            <a:off x="10110216" y="3310128"/>
            <a:ext cx="41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Data</a:t>
            </a:r>
            <a:endParaRPr lang="en-US" sz="650" dirty="0"/>
          </a:p>
        </p:txBody>
      </p:sp>
      <p:sp>
        <p:nvSpPr>
          <p:cNvPr id="130" name="Shape 120"/>
          <p:cNvSpPr/>
          <p:nvPr/>
        </p:nvSpPr>
        <p:spPr>
          <a:xfrm>
            <a:off x="9098280" y="3703320"/>
            <a:ext cx="914" cy="54864"/>
          </a:xfrm>
          <a:prstGeom prst="line">
            <a:avLst/>
          </a:prstGeom>
          <a:noFill/>
          <a:ln w="12700">
            <a:solidFill>
              <a:srgbClr val="65636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1" name="Shape 121"/>
          <p:cNvSpPr/>
          <p:nvPr/>
        </p:nvSpPr>
        <p:spPr>
          <a:xfrm>
            <a:off x="7607808" y="3758184"/>
            <a:ext cx="298094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6563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Shape 122"/>
          <p:cNvSpPr/>
          <p:nvPr/>
        </p:nvSpPr>
        <p:spPr>
          <a:xfrm>
            <a:off x="7607808" y="3758184"/>
            <a:ext cx="2980944" cy="182880"/>
          </a:xfrm>
          <a:prstGeom prst="roundRect">
            <a:avLst>
              <a:gd name="adj" fmla="val 25000"/>
            </a:avLst>
          </a:prstGeom>
          <a:solidFill>
            <a:srgbClr val="656367"/>
          </a:solidFill>
          <a:ln w="9525">
            <a:solidFill>
              <a:srgbClr val="6563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3"/>
          <p:cNvSpPr txBox="1"/>
          <p:nvPr/>
        </p:nvSpPr>
        <p:spPr>
          <a:xfrm>
            <a:off x="7680960" y="3758184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Security</a:t>
            </a:r>
            <a:endParaRPr lang="en-US" sz="800" dirty="0"/>
          </a:p>
        </p:txBody>
      </p:sp>
      <p:sp>
        <p:nvSpPr>
          <p:cNvPr id="134" name="Shape 124"/>
          <p:cNvSpPr/>
          <p:nvPr/>
        </p:nvSpPr>
        <p:spPr>
          <a:xfrm>
            <a:off x="7653528" y="3986784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25"/>
          <p:cNvSpPr txBox="1"/>
          <p:nvPr/>
        </p:nvSpPr>
        <p:spPr>
          <a:xfrm>
            <a:off x="7671816" y="398678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(AWS / Azure / GCP)</a:t>
            </a:r>
            <a:endParaRPr lang="en-US" sz="650" dirty="0"/>
          </a:p>
        </p:txBody>
      </p:sp>
      <p:sp>
        <p:nvSpPr>
          <p:cNvPr id="136" name="Shape 126"/>
          <p:cNvSpPr/>
          <p:nvPr/>
        </p:nvSpPr>
        <p:spPr>
          <a:xfrm>
            <a:off x="8238744" y="3986784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Text 127"/>
          <p:cNvSpPr txBox="1"/>
          <p:nvPr/>
        </p:nvSpPr>
        <p:spPr>
          <a:xfrm>
            <a:off x="8257032" y="398678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Database</a:t>
            </a:r>
            <a:endParaRPr lang="en-US" sz="650" dirty="0"/>
          </a:p>
        </p:txBody>
      </p:sp>
      <p:sp>
        <p:nvSpPr>
          <p:cNvPr id="138" name="Shape 128"/>
          <p:cNvSpPr/>
          <p:nvPr/>
        </p:nvSpPr>
        <p:spPr>
          <a:xfrm>
            <a:off x="8823960" y="3986784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Text 129"/>
          <p:cNvSpPr txBox="1"/>
          <p:nvPr/>
        </p:nvSpPr>
        <p:spPr>
          <a:xfrm>
            <a:off x="8842248" y="398678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&amp; Audit Logs</a:t>
            </a:r>
            <a:endParaRPr lang="en-US" sz="650" dirty="0"/>
          </a:p>
        </p:txBody>
      </p:sp>
      <p:sp>
        <p:nvSpPr>
          <p:cNvPr id="140" name="Shape 130"/>
          <p:cNvSpPr/>
          <p:nvPr/>
        </p:nvSpPr>
        <p:spPr>
          <a:xfrm>
            <a:off x="9409176" y="3986784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Text 131"/>
          <p:cNvSpPr txBox="1"/>
          <p:nvPr/>
        </p:nvSpPr>
        <p:spPr>
          <a:xfrm>
            <a:off x="9427464" y="398678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Logging</a:t>
            </a:r>
            <a:endParaRPr lang="en-US" sz="650" dirty="0"/>
          </a:p>
        </p:txBody>
      </p:sp>
      <p:sp>
        <p:nvSpPr>
          <p:cNvPr id="142" name="Shape 132"/>
          <p:cNvSpPr/>
          <p:nvPr/>
        </p:nvSpPr>
        <p:spPr>
          <a:xfrm>
            <a:off x="9994392" y="3986784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FBEAEA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3" name="Text 133"/>
          <p:cNvSpPr txBox="1"/>
          <p:nvPr/>
        </p:nvSpPr>
        <p:spPr>
          <a:xfrm>
            <a:off x="10012680" y="398678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Kubernetes</a:t>
            </a:r>
            <a:endParaRPr lang="en-US" sz="650" dirty="0"/>
          </a:p>
        </p:txBody>
      </p:sp>
      <p:sp>
        <p:nvSpPr>
          <p:cNvPr id="144" name="Shape 134"/>
          <p:cNvSpPr/>
          <p:nvPr/>
        </p:nvSpPr>
        <p:spPr>
          <a:xfrm>
            <a:off x="7516368" y="1901952"/>
            <a:ext cx="91440" cy="914"/>
          </a:xfrm>
          <a:prstGeom prst="line">
            <a:avLst/>
          </a:prstGeom>
          <a:noFill/>
          <a:ln w="12700">
            <a:solidFill>
              <a:srgbClr val="65636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5" name="Shape 135"/>
          <p:cNvSpPr/>
          <p:nvPr/>
        </p:nvSpPr>
        <p:spPr>
          <a:xfrm>
            <a:off x="10661904" y="1051560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3A3A3A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36"/>
          <p:cNvSpPr txBox="1"/>
          <p:nvPr/>
        </p:nvSpPr>
        <p:spPr>
          <a:xfrm>
            <a:off x="10661904" y="1051560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800" dirty="0"/>
          </a:p>
        </p:txBody>
      </p:sp>
      <p:sp>
        <p:nvSpPr>
          <p:cNvPr id="147" name="Shape 137"/>
          <p:cNvSpPr/>
          <p:nvPr/>
        </p:nvSpPr>
        <p:spPr>
          <a:xfrm>
            <a:off x="10661904" y="1316736"/>
            <a:ext cx="978408" cy="566928"/>
          </a:xfrm>
          <a:prstGeom prst="roundRect">
            <a:avLst>
              <a:gd name="adj" fmla="val 8065"/>
            </a:avLst>
          </a:prstGeom>
          <a:solidFill>
            <a:srgbClr val="F7F7F7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8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07624" y="1490472"/>
            <a:ext cx="201168" cy="201168"/>
          </a:xfrm>
          <a:prstGeom prst="rect">
            <a:avLst/>
          </a:prstGeom>
        </p:spPr>
      </p:pic>
      <p:sp>
        <p:nvSpPr>
          <p:cNvPr id="149" name="Text 138"/>
          <p:cNvSpPr txBox="1"/>
          <p:nvPr/>
        </p:nvSpPr>
        <p:spPr>
          <a:xfrm>
            <a:off x="10945368" y="1353312"/>
            <a:ext cx="667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</a:t>
            </a:r>
            <a:endParaRPr lang="en-US" sz="750" dirty="0"/>
          </a:p>
          <a:p>
            <a:pPr marL="0" indent="0">
              <a:buNone/>
            </a:pPr>
            <a:r>
              <a:rPr lang="en-US" sz="6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&amp; NLP</a:t>
            </a:r>
            <a:endParaRPr lang="en-US" sz="750" dirty="0"/>
          </a:p>
        </p:txBody>
      </p:sp>
      <p:sp>
        <p:nvSpPr>
          <p:cNvPr id="150" name="Shape 139"/>
          <p:cNvSpPr/>
          <p:nvPr/>
        </p:nvSpPr>
        <p:spPr>
          <a:xfrm>
            <a:off x="10661904" y="1938528"/>
            <a:ext cx="978408" cy="566928"/>
          </a:xfrm>
          <a:prstGeom prst="roundRect">
            <a:avLst>
              <a:gd name="adj" fmla="val 8065"/>
            </a:avLst>
          </a:prstGeom>
          <a:solidFill>
            <a:srgbClr val="F7F7F7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07624" y="2112264"/>
            <a:ext cx="201168" cy="201168"/>
          </a:xfrm>
          <a:prstGeom prst="rect">
            <a:avLst/>
          </a:prstGeom>
        </p:spPr>
      </p:pic>
      <p:sp>
        <p:nvSpPr>
          <p:cNvPr id="152" name="Text 140"/>
          <p:cNvSpPr txBox="1"/>
          <p:nvPr/>
        </p:nvSpPr>
        <p:spPr>
          <a:xfrm>
            <a:off x="10945368" y="1975104"/>
            <a:ext cx="667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750" dirty="0"/>
          </a:p>
          <a:p>
            <a:pPr marL="0" indent="0">
              <a:buNone/>
            </a:pPr>
            <a:r>
              <a:rPr lang="en-US" sz="6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Maps, places, routes</a:t>
            </a:r>
            <a:endParaRPr lang="en-US" sz="750" dirty="0"/>
          </a:p>
        </p:txBody>
      </p:sp>
      <p:sp>
        <p:nvSpPr>
          <p:cNvPr id="153" name="Shape 141"/>
          <p:cNvSpPr/>
          <p:nvPr/>
        </p:nvSpPr>
        <p:spPr>
          <a:xfrm>
            <a:off x="10661904" y="2560320"/>
            <a:ext cx="978408" cy="566928"/>
          </a:xfrm>
          <a:prstGeom prst="roundRect">
            <a:avLst>
              <a:gd name="adj" fmla="val 8065"/>
            </a:avLst>
          </a:prstGeom>
          <a:solidFill>
            <a:srgbClr val="F7F7F7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4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07624" y="2734056"/>
            <a:ext cx="201168" cy="201168"/>
          </a:xfrm>
          <a:prstGeom prst="rect">
            <a:avLst/>
          </a:prstGeom>
        </p:spPr>
      </p:pic>
      <p:sp>
        <p:nvSpPr>
          <p:cNvPr id="155" name="Text 142"/>
          <p:cNvSpPr txBox="1"/>
          <p:nvPr/>
        </p:nvSpPr>
        <p:spPr>
          <a:xfrm>
            <a:off x="10945368" y="2596896"/>
            <a:ext cx="667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/ Fleet</a:t>
            </a:r>
            <a:endParaRPr lang="en-US" sz="750" dirty="0"/>
          </a:p>
          <a:p>
            <a:pPr marL="0" indent="0">
              <a:buNone/>
            </a:pPr>
            <a:r>
              <a:rPr lang="en-US" sz="6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</a:t>
            </a:r>
            <a:endParaRPr lang="en-US" sz="750" dirty="0"/>
          </a:p>
        </p:txBody>
      </p:sp>
      <p:sp>
        <p:nvSpPr>
          <p:cNvPr id="156" name="Shape 143"/>
          <p:cNvSpPr/>
          <p:nvPr/>
        </p:nvSpPr>
        <p:spPr>
          <a:xfrm>
            <a:off x="10661904" y="3182112"/>
            <a:ext cx="978408" cy="566928"/>
          </a:xfrm>
          <a:prstGeom prst="roundRect">
            <a:avLst>
              <a:gd name="adj" fmla="val 8065"/>
            </a:avLst>
          </a:prstGeom>
          <a:solidFill>
            <a:srgbClr val="F7F7F7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7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07624" y="3355848"/>
            <a:ext cx="201168" cy="201168"/>
          </a:xfrm>
          <a:prstGeom prst="rect">
            <a:avLst/>
          </a:prstGeom>
        </p:spPr>
      </p:pic>
      <p:sp>
        <p:nvSpPr>
          <p:cNvPr id="158" name="Text 144"/>
          <p:cNvSpPr txBox="1"/>
          <p:nvPr/>
        </p:nvSpPr>
        <p:spPr>
          <a:xfrm>
            <a:off x="10945368" y="3218688"/>
            <a:ext cx="667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Knowledge</a:t>
            </a:r>
            <a:endParaRPr lang="en-US" sz="750" dirty="0"/>
          </a:p>
          <a:p>
            <a:pPr marL="0" indent="0">
              <a:buNone/>
            </a:pPr>
            <a:r>
              <a:rPr lang="en-US" sz="6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content</a:t>
            </a:r>
            <a:endParaRPr lang="en-US" sz="750" dirty="0"/>
          </a:p>
        </p:txBody>
      </p:sp>
      <p:sp>
        <p:nvSpPr>
          <p:cNvPr id="159" name="Shape 145"/>
          <p:cNvSpPr/>
          <p:nvPr/>
        </p:nvSpPr>
        <p:spPr>
          <a:xfrm>
            <a:off x="10661904" y="3803904"/>
            <a:ext cx="978408" cy="566928"/>
          </a:xfrm>
          <a:prstGeom prst="roundRect">
            <a:avLst>
              <a:gd name="adj" fmla="val 8065"/>
            </a:avLst>
          </a:prstGeom>
          <a:solidFill>
            <a:srgbClr val="F7F7F7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0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7624" y="3977640"/>
            <a:ext cx="201168" cy="201168"/>
          </a:xfrm>
          <a:prstGeom prst="rect">
            <a:avLst/>
          </a:prstGeom>
        </p:spPr>
      </p:pic>
      <p:sp>
        <p:nvSpPr>
          <p:cNvPr id="161" name="Text 146"/>
          <p:cNvSpPr txBox="1"/>
          <p:nvPr/>
        </p:nvSpPr>
        <p:spPr>
          <a:xfrm>
            <a:off x="10945368" y="3840480"/>
            <a:ext cx="667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APIs</a:t>
            </a:r>
            <a:endParaRPr lang="en-US" sz="750" dirty="0"/>
          </a:p>
          <a:p>
            <a:pPr marL="0" indent="0">
              <a:buNone/>
            </a:pPr>
            <a:r>
              <a:rPr lang="en-US" sz="6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data</a:t>
            </a:r>
            <a:endParaRPr lang="en-US" sz="750" dirty="0"/>
          </a:p>
        </p:txBody>
      </p:sp>
      <p:sp>
        <p:nvSpPr>
          <p:cNvPr id="162" name="Shape 147"/>
          <p:cNvSpPr/>
          <p:nvPr/>
        </p:nvSpPr>
        <p:spPr>
          <a:xfrm>
            <a:off x="10588752" y="1901952"/>
            <a:ext cx="73152" cy="914"/>
          </a:xfrm>
          <a:prstGeom prst="line">
            <a:avLst/>
          </a:prstGeom>
          <a:noFill/>
          <a:ln w="12700">
            <a:solidFill>
              <a:srgbClr val="65636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3" name="hdr-Innovation &amp;-circle"/>
          <p:cNvSpPr/>
          <p:nvPr/>
        </p:nvSpPr>
        <p:spPr>
          <a:xfrm>
            <a:off x="6263640" y="4572000"/>
            <a:ext cx="274320" cy="274320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4" name="hdr-Innovation &amp;-icon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3990" y="4632350"/>
            <a:ext cx="153619" cy="153619"/>
          </a:xfrm>
          <a:prstGeom prst="rect">
            <a:avLst/>
          </a:prstGeom>
        </p:spPr>
      </p:pic>
      <p:sp>
        <p:nvSpPr>
          <p:cNvPr id="165" name="Text 149"/>
          <p:cNvSpPr txBox="1"/>
          <p:nvPr/>
        </p:nvSpPr>
        <p:spPr>
          <a:xfrm>
            <a:off x="6611112" y="45537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Innovation &amp; Uniqueness</a:t>
            </a:r>
            <a:endParaRPr lang="en-US" sz="1500" dirty="0"/>
          </a:p>
        </p:txBody>
      </p:sp>
      <p:sp>
        <p:nvSpPr>
          <p:cNvPr id="166" name="Shape 150"/>
          <p:cNvSpPr/>
          <p:nvPr/>
        </p:nvSpPr>
        <p:spPr>
          <a:xfrm>
            <a:off x="6263640" y="4919472"/>
            <a:ext cx="5669280" cy="1737360"/>
          </a:xfrm>
          <a:prstGeom prst="roundRect">
            <a:avLst>
              <a:gd name="adj" fmla="val 6316"/>
            </a:avLst>
          </a:prstGeom>
          <a:solidFill>
            <a:srgbClr val="7F1D1F"/>
          </a:solidFill>
          <a:ln w="9525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7" name="Text 151"/>
          <p:cNvSpPr txBox="1"/>
          <p:nvPr/>
        </p:nvSpPr>
        <p:spPr>
          <a:xfrm>
            <a:off x="6400800" y="4974336"/>
            <a:ext cx="54406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b="1" dirty="0">
                <a:solidFill>
                  <a:srgbClr val="FFD9D9"/>
                </a:solidFill>
              </a:rPr>
              <a:t>Personalized Monitoring:</a:t>
            </a:r>
            <a:r>
              <a:rPr lang="en-US" sz="1100" dirty="0">
                <a:solidFill>
                  <a:srgbClr val="FFFFFF"/>
                </a:solidFill>
              </a:rPr>
              <a:t> patient-specific baselines, not generic thresholds.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b="1" dirty="0">
                <a:solidFill>
                  <a:srgbClr val="FFD9D9"/>
                </a:solidFill>
              </a:rPr>
              <a:t>Dual AI Models:</a:t>
            </a:r>
            <a:r>
              <a:rPr lang="en-US" sz="1100" dirty="0">
                <a:solidFill>
                  <a:srgbClr val="FFFFFF"/>
                </a:solidFill>
              </a:rPr>
              <a:t> watch-only and full-data risk prediction.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b="1" dirty="0">
                <a:solidFill>
                  <a:srgbClr val="FFD9D9"/>
                </a:solidFill>
              </a:rPr>
              <a:t>Safety-First Design:</a:t>
            </a:r>
            <a:r>
              <a:rPr lang="en-US" sz="1100" dirty="0">
                <a:solidFill>
                  <a:srgbClr val="FFFFFF"/>
                </a:solidFill>
              </a:rPr>
              <a:t> stale-data checks and independent emergency alerts.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b="1" dirty="0">
                <a:solidFill>
                  <a:srgbClr val="FFD9D9"/>
                </a:solidFill>
              </a:rPr>
              <a:t>Explainable AI:</a:t>
            </a:r>
            <a:r>
              <a:rPr lang="en-US" sz="1100" dirty="0">
                <a:solidFill>
                  <a:srgbClr val="FFFFFF"/>
                </a:solidFill>
              </a:rPr>
              <a:t> SHAP insights with doctor-friendly SAR reports.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b="1" dirty="0">
                <a:solidFill>
                  <a:srgbClr val="FFD9D9"/>
                </a:solidFill>
              </a:rPr>
              <a:t>Smart What-If Simulation:</a:t>
            </a:r>
            <a:r>
              <a:rPr lang="en-US" sz="1100" dirty="0">
                <a:solidFill>
                  <a:srgbClr val="FFFFFF"/>
                </a:solidFill>
              </a:rPr>
              <a:t> counterfactuals and stability checks.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b="1" dirty="0">
                <a:solidFill>
                  <a:srgbClr val="FFD9D9"/>
                </a:solidFill>
              </a:rPr>
              <a:t>Reliable Predictions:</a:t>
            </a:r>
            <a:r>
              <a:rPr lang="en-US" sz="1100" dirty="0">
                <a:solidFill>
                  <a:srgbClr val="FFFFFF"/>
                </a:solidFill>
              </a:rPr>
              <a:t> input validation and transparent limitations.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b="1" dirty="0">
                <a:solidFill>
                  <a:srgbClr val="FFD9D9"/>
                </a:solidFill>
              </a:rPr>
              <a:t>Flexible Integration:</a:t>
            </a:r>
            <a:r>
              <a:rPr lang="en-US" sz="1100" dirty="0">
                <a:solidFill>
                  <a:srgbClr val="FFFFFF"/>
                </a:solidFill>
              </a:rPr>
              <a:t> one backend for mobile, smartwatch and ESP32.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am-label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74320"/>
            <a:ext cx="274320" cy="274320"/>
          </a:xfrm>
          <a:prstGeom prst="rect">
            <a:avLst/>
          </a:prstGeom>
        </p:spPr>
      </p:pic>
      <p:sp>
        <p:nvSpPr>
          <p:cNvPr id="3" name="team-label"/>
          <p:cNvSpPr txBox="1"/>
          <p:nvPr/>
        </p:nvSpPr>
        <p:spPr>
          <a:xfrm>
            <a:off x="9235440" y="228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 Twin  |  Team AyuRaksha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91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8138160" cy="4626864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411480" y="10698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· BUILD AND VALIDATE (NOTEBOOKS 01–06)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1219200" cy="1298448"/>
          </a:xfrm>
          <a:prstGeom prst="roundRect">
            <a:avLst>
              <a:gd name="adj" fmla="val 3750"/>
            </a:avLst>
          </a:prstGeom>
          <a:solidFill>
            <a:srgbClr val="F7F7F7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475488" y="1325880"/>
            <a:ext cx="11094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B8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MIMIC-IV clinical demo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patients · 140 ICU stays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MIMIC-IV-ECG: 659 12-lead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DB: 19 usable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I-CARE: metadata only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630680" y="1929384"/>
            <a:ext cx="109728" cy="914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740408" y="1280160"/>
            <a:ext cx="1219200" cy="1298448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1804416" y="1325880"/>
            <a:ext cx="11094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B8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01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tidy CSV tables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12,101 ICU-hours of vitals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34,587 labs · 2,856 meds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labelled events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features, 10 s @ 500 Hz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2959608" y="1929384"/>
            <a:ext cx="109728" cy="914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069336" y="1280160"/>
            <a:ext cx="1219200" cy="1298448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3133344" y="1325880"/>
            <a:ext cx="11094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B8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and clean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· clinical · dynamic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limits, °F → °C fix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≤ 4 h per stay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NEWS2 + shock index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twin_preprocess.py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288536" y="1929384"/>
            <a:ext cx="109728" cy="914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398264" y="1280160"/>
            <a:ext cx="1219200" cy="1298448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4462272" y="1325880"/>
            <a:ext cx="11094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B8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03–04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+ EDA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+65 cardiac features → 211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 burden, HF warning signs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 dips, QTc, ST, LVH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meds, labs, ICD risk factors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EDA charts incl. shift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5617464" y="1929384"/>
            <a:ext cx="109728" cy="914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727192" y="1280160"/>
            <a:ext cx="1219200" cy="1298448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 txBox="1"/>
          <p:nvPr/>
        </p:nvSpPr>
        <p:spPr>
          <a:xfrm>
            <a:off x="5791200" y="1325880"/>
            <a:ext cx="11094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B8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05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select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deterioration within 24 h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train (5 folds) / 15 test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RF · XGB · LGBM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LR, 46 inputs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full: LightGBM, 40 inputs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946392" y="1929384"/>
            <a:ext cx="109728" cy="914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7056120" y="1280160"/>
            <a:ext cx="1219200" cy="1298448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 txBox="1"/>
          <p:nvPr/>
        </p:nvSpPr>
        <p:spPr>
          <a:xfrm>
            <a:off x="7120128" y="1325880"/>
            <a:ext cx="11094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B8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06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SHAP per prediction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patient waterfalls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doctor reports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+ subgroups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model: 50% / 50%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1737360" y="2715768"/>
            <a:ext cx="6537960" cy="384048"/>
          </a:xfrm>
          <a:prstGeom prst="roundRect">
            <a:avLst>
              <a:gd name="adj" fmla="val 11905"/>
            </a:avLst>
          </a:prstGeom>
          <a:solidFill>
            <a:srgbClr val="FBEAEA"/>
          </a:solidFill>
          <a:ln w="952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 txBox="1"/>
          <p:nvPr/>
        </p:nvSpPr>
        <p:spPr>
          <a:xfrm>
            <a:off x="1828800" y="2715768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Saved, versioned artifacts:  </a:t>
            </a:r>
            <a:r>
              <a:rPr lang="en-US" sz="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.pkl + SHA-256 manifest · feature schema · cut-offs MODERATE ≥ 3.62%, HIGH ≥ 7.59% · 50 bootstrap refits · SHAP background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336792" y="2578608"/>
            <a:ext cx="914" cy="13716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7665720" y="2578608"/>
            <a:ext cx="914" cy="13716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 txBox="1"/>
          <p:nvPr/>
        </p:nvSpPr>
        <p:spPr>
          <a:xfrm>
            <a:off x="411480" y="319125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· EVERY HOUR, PER PATIENT (NOTEBOOK 07)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11480" y="3410712"/>
            <a:ext cx="1188720" cy="169164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 txBox="1"/>
          <p:nvPr/>
        </p:nvSpPr>
        <p:spPr>
          <a:xfrm>
            <a:off x="475488" y="3456432"/>
            <a:ext cx="1078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B8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INPUT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heart rate, SpO₂, breathing rate, rhythm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age, sex, smoking, symptom check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labs, history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ICU vitals replayed as watch data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1600200" y="4256532"/>
            <a:ext cx="137160" cy="914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1737360" y="3410712"/>
            <a:ext cx="516636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5875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 txBox="1"/>
          <p:nvPr/>
        </p:nvSpPr>
        <p:spPr>
          <a:xfrm>
            <a:off x="1828800" y="3447288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F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 · 48 TESTS PASS · 99.7% SAME TIER AS NOTEBOOK 05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1828800" y="3666744"/>
            <a:ext cx="9235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 txBox="1"/>
          <p:nvPr/>
        </p:nvSpPr>
        <p:spPr>
          <a:xfrm>
            <a:off x="1892808" y="371246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Validate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units, duplicates, impossible values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2752344" y="3941064"/>
            <a:ext cx="91440" cy="914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2843784" y="3666744"/>
            <a:ext cx="9235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 txBox="1"/>
          <p:nvPr/>
        </p:nvSpPr>
        <p:spPr>
          <a:xfrm>
            <a:off x="2907792" y="371246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B8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Emergency rules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NEWS2 red bands, chest pain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3767328" y="3941064"/>
            <a:ext cx="91440" cy="914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3858768" y="3666744"/>
            <a:ext cx="9235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 txBox="1"/>
          <p:nvPr/>
        </p:nvSpPr>
        <p:spPr>
          <a:xfrm>
            <a:off x="3922776" y="371246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Freshness gate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signal: no score, never LOW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4782312" y="3941064"/>
            <a:ext cx="91440" cy="914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4873752" y="3666744"/>
            <a:ext cx="9235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 txBox="1"/>
          <p:nvPr/>
        </p:nvSpPr>
        <p:spPr>
          <a:xfrm>
            <a:off x="4937760" y="371246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as training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797296" y="3941064"/>
            <a:ext cx="91440" cy="914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3"/>
          <p:cNvSpPr/>
          <p:nvPr/>
        </p:nvSpPr>
        <p:spPr>
          <a:xfrm>
            <a:off x="5888736" y="3666744"/>
            <a:ext cx="9235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 txBox="1"/>
          <p:nvPr/>
        </p:nvSpPr>
        <p:spPr>
          <a:xfrm>
            <a:off x="5952744" y="371246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LR, SHA-256 integrity check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1828800" y="4251960"/>
            <a:ext cx="9235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 txBox="1"/>
          <p:nvPr/>
        </p:nvSpPr>
        <p:spPr>
          <a:xfrm>
            <a:off x="1892808" y="4297680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Policy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· MOD · HIGH with hysteresis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2752344" y="4526280"/>
            <a:ext cx="91440" cy="914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8"/>
          <p:cNvSpPr/>
          <p:nvPr/>
        </p:nvSpPr>
        <p:spPr>
          <a:xfrm>
            <a:off x="2843784" y="4251960"/>
            <a:ext cx="9235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 txBox="1"/>
          <p:nvPr/>
        </p:nvSpPr>
        <p:spPr>
          <a:xfrm>
            <a:off x="2907792" y="4297680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Uncertainty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bootstrap refits, 24 h trajectory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767328" y="4526280"/>
            <a:ext cx="91440" cy="914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1"/>
          <p:cNvSpPr/>
          <p:nvPr/>
        </p:nvSpPr>
        <p:spPr>
          <a:xfrm>
            <a:off x="3858768" y="4251960"/>
            <a:ext cx="9235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 txBox="1"/>
          <p:nvPr/>
        </p:nvSpPr>
        <p:spPr>
          <a:xfrm>
            <a:off x="3922776" y="4297680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SHAP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linear SHAP, top 3 reasons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4782312" y="4526280"/>
            <a:ext cx="91440" cy="914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4"/>
          <p:cNvSpPr/>
          <p:nvPr/>
        </p:nvSpPr>
        <p:spPr>
          <a:xfrm>
            <a:off x="4873752" y="4251960"/>
            <a:ext cx="9235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5"/>
          <p:cNvSpPr txBox="1"/>
          <p:nvPr/>
        </p:nvSpPr>
        <p:spPr>
          <a:xfrm>
            <a:off x="4937760" y="4297680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SAR narrative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sentence carries its evidence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5797296" y="4526280"/>
            <a:ext cx="91440" cy="914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7"/>
          <p:cNvSpPr/>
          <p:nvPr/>
        </p:nvSpPr>
        <p:spPr>
          <a:xfrm>
            <a:off x="5888736" y="4251960"/>
            <a:ext cx="9235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8"/>
          <p:cNvSpPr txBox="1"/>
          <p:nvPr/>
        </p:nvSpPr>
        <p:spPr>
          <a:xfrm>
            <a:off x="5952744" y="4297680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Audit + alerts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de-duplication, cooldown, audit log</a:t>
            </a:r>
            <a:endParaRPr lang="en-US" sz="800" dirty="0"/>
          </a:p>
        </p:txBody>
      </p:sp>
      <p:sp>
        <p:nvSpPr>
          <p:cNvPr id="62" name="Text 59"/>
          <p:cNvSpPr txBox="1"/>
          <p:nvPr/>
        </p:nvSpPr>
        <p:spPr>
          <a:xfrm>
            <a:off x="1828800" y="487375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rules run before the model and independently of it; a triggered rule overrides any score.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6903720" y="4256532"/>
            <a:ext cx="109728" cy="914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1"/>
          <p:cNvSpPr/>
          <p:nvPr/>
        </p:nvSpPr>
        <p:spPr>
          <a:xfrm>
            <a:off x="7013448" y="3410712"/>
            <a:ext cx="1261872" cy="169164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587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2"/>
          <p:cNvSpPr txBox="1"/>
          <p:nvPr/>
        </p:nvSpPr>
        <p:spPr>
          <a:xfrm>
            <a:off x="7077456" y="3456432"/>
            <a:ext cx="1152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B8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see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phone: tier in words, no score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phone: score, reasons, SAR, audit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one word + haptic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Emergency: Call 112, user presses it</a:t>
            </a:r>
            <a:endParaRPr lang="en-US" sz="700" dirty="0"/>
          </a:p>
        </p:txBody>
      </p:sp>
      <p:sp>
        <p:nvSpPr>
          <p:cNvPr id="66" name="Shape 63"/>
          <p:cNvSpPr/>
          <p:nvPr/>
        </p:nvSpPr>
        <p:spPr>
          <a:xfrm>
            <a:off x="1737360" y="5193792"/>
            <a:ext cx="5166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82D2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4"/>
          <p:cNvSpPr txBox="1"/>
          <p:nvPr/>
        </p:nvSpPr>
        <p:spPr>
          <a:xfrm>
            <a:off x="1828800" y="51937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8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08 · WHAT-IF SIMULATOR:  </a:t>
            </a: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levers · sensitivity curves · counterfactuals · reuses saved models, nothing retrained · labelled HYPOTHETICAL</a:t>
            </a:r>
            <a:endParaRPr lang="en-US" sz="750" dirty="0"/>
          </a:p>
        </p:txBody>
      </p:sp>
      <p:sp>
        <p:nvSpPr>
          <p:cNvPr id="68" name="hdr-Planned — Ap-circle"/>
          <p:cNvSpPr/>
          <p:nvPr/>
        </p:nvSpPr>
        <p:spPr>
          <a:xfrm>
            <a:off x="274320" y="5715000"/>
            <a:ext cx="274320" cy="274320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9" name="hdr-Planned — Ap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" y="5775350"/>
            <a:ext cx="153619" cy="153619"/>
          </a:xfrm>
          <a:prstGeom prst="rect">
            <a:avLst/>
          </a:prstGeom>
        </p:spPr>
      </p:pic>
      <p:sp>
        <p:nvSpPr>
          <p:cNvPr id="70" name="Text 66"/>
          <p:cNvSpPr txBox="1"/>
          <p:nvPr/>
        </p:nvSpPr>
        <p:spPr>
          <a:xfrm>
            <a:off x="621792" y="56967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Planned — Application &amp; Deployment</a:t>
            </a:r>
            <a:endParaRPr lang="en-US" sz="1300" dirty="0"/>
          </a:p>
        </p:txBody>
      </p:sp>
      <p:sp>
        <p:nvSpPr>
          <p:cNvPr id="71" name="Shape 67"/>
          <p:cNvSpPr/>
          <p:nvPr/>
        </p:nvSpPr>
        <p:spPr>
          <a:xfrm>
            <a:off x="274320" y="6053328"/>
            <a:ext cx="1554480" cy="621792"/>
          </a:xfrm>
          <a:prstGeom prst="roundRect">
            <a:avLst>
              <a:gd name="adj" fmla="val 11765"/>
            </a:avLst>
          </a:prstGeom>
          <a:solidFill>
            <a:srgbClr val="FBEAEA"/>
          </a:solidFill>
          <a:ln w="12700">
            <a:solidFill>
              <a:srgbClr val="B82D2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 txBox="1"/>
          <p:nvPr/>
        </p:nvSpPr>
        <p:spPr>
          <a:xfrm>
            <a:off x="329184" y="6071616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2D2F"/>
                </a:solidFill>
              </a:rPr>
              <a:t>Backend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262626"/>
                </a:solidFill>
              </a:rPr>
              <a:t>FastAPI · SQLite / PostgreSQL · REST · WebSocket</a:t>
            </a:r>
            <a:endParaRPr lang="en-US" sz="1000" dirty="0"/>
          </a:p>
        </p:txBody>
      </p:sp>
      <p:sp>
        <p:nvSpPr>
          <p:cNvPr id="73" name="Shape 69"/>
          <p:cNvSpPr/>
          <p:nvPr/>
        </p:nvSpPr>
        <p:spPr>
          <a:xfrm>
            <a:off x="1920240" y="6053328"/>
            <a:ext cx="1554480" cy="621792"/>
          </a:xfrm>
          <a:prstGeom prst="roundRect">
            <a:avLst>
              <a:gd name="adj" fmla="val 11765"/>
            </a:avLst>
          </a:prstGeom>
          <a:solidFill>
            <a:srgbClr val="FBEAEA"/>
          </a:solidFill>
          <a:ln w="12700">
            <a:solidFill>
              <a:srgbClr val="B82D2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0"/>
          <p:cNvSpPr txBox="1"/>
          <p:nvPr/>
        </p:nvSpPr>
        <p:spPr>
          <a:xfrm>
            <a:off x="1975104" y="6071616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2D2F"/>
                </a:solidFill>
              </a:rPr>
              <a:t>Simulator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262626"/>
                </a:solidFill>
              </a:rPr>
              <a:t>Python Virtual Watch</a:t>
            </a:r>
            <a:endParaRPr lang="en-US" sz="1000" dirty="0"/>
          </a:p>
        </p:txBody>
      </p:sp>
      <p:sp>
        <p:nvSpPr>
          <p:cNvPr id="75" name="Shape 71"/>
          <p:cNvSpPr/>
          <p:nvPr/>
        </p:nvSpPr>
        <p:spPr>
          <a:xfrm>
            <a:off x="3566160" y="6053328"/>
            <a:ext cx="1554480" cy="621792"/>
          </a:xfrm>
          <a:prstGeom prst="roundRect">
            <a:avLst>
              <a:gd name="adj" fmla="val 11765"/>
            </a:avLst>
          </a:prstGeom>
          <a:solidFill>
            <a:srgbClr val="FBEAEA"/>
          </a:solidFill>
          <a:ln w="12700">
            <a:solidFill>
              <a:srgbClr val="B82D2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2"/>
          <p:cNvSpPr txBox="1"/>
          <p:nvPr/>
        </p:nvSpPr>
        <p:spPr>
          <a:xfrm>
            <a:off x="3621024" y="6071616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2D2F"/>
                </a:solidFill>
              </a:rPr>
              <a:t>Mobile App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262626"/>
                </a:solidFill>
              </a:rPr>
              <a:t>Android · Kotlin · Jetpack Compose</a:t>
            </a:r>
            <a:endParaRPr lang="en-US" sz="1000" dirty="0"/>
          </a:p>
        </p:txBody>
      </p:sp>
      <p:sp>
        <p:nvSpPr>
          <p:cNvPr id="77" name="Shape 73"/>
          <p:cNvSpPr/>
          <p:nvPr/>
        </p:nvSpPr>
        <p:spPr>
          <a:xfrm>
            <a:off x="5212080" y="6053328"/>
            <a:ext cx="1554480" cy="621792"/>
          </a:xfrm>
          <a:prstGeom prst="roundRect">
            <a:avLst>
              <a:gd name="adj" fmla="val 11765"/>
            </a:avLst>
          </a:prstGeom>
          <a:solidFill>
            <a:srgbClr val="FBEAEA"/>
          </a:solidFill>
          <a:ln w="12700">
            <a:solidFill>
              <a:srgbClr val="B82D2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4"/>
          <p:cNvSpPr txBox="1"/>
          <p:nvPr/>
        </p:nvSpPr>
        <p:spPr>
          <a:xfrm>
            <a:off x="5266944" y="6071616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2D2F"/>
                </a:solidFill>
              </a:rPr>
              <a:t>Smartwatch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262626"/>
                </a:solidFill>
              </a:rPr>
              <a:t>Wear OS · Health Services · Bluetooth</a:t>
            </a:r>
            <a:endParaRPr lang="en-US" sz="1000" dirty="0"/>
          </a:p>
        </p:txBody>
      </p:sp>
      <p:sp>
        <p:nvSpPr>
          <p:cNvPr id="79" name="Shape 75"/>
          <p:cNvSpPr/>
          <p:nvPr/>
        </p:nvSpPr>
        <p:spPr>
          <a:xfrm>
            <a:off x="6858000" y="6053328"/>
            <a:ext cx="1554480" cy="621792"/>
          </a:xfrm>
          <a:prstGeom prst="roundRect">
            <a:avLst>
              <a:gd name="adj" fmla="val 11765"/>
            </a:avLst>
          </a:prstGeom>
          <a:solidFill>
            <a:srgbClr val="FBEAEA"/>
          </a:solidFill>
          <a:ln w="12700">
            <a:solidFill>
              <a:srgbClr val="B82D2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6"/>
          <p:cNvSpPr txBox="1"/>
          <p:nvPr/>
        </p:nvSpPr>
        <p:spPr>
          <a:xfrm>
            <a:off x="6912864" y="6071616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2D2F"/>
                </a:solidFill>
              </a:rPr>
              <a:t>Deployment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262626"/>
                </a:solidFill>
              </a:rPr>
              <a:t>Render / Railway</a:t>
            </a:r>
            <a:endParaRPr lang="en-US" sz="1000" dirty="0"/>
          </a:p>
        </p:txBody>
      </p:sp>
      <p:sp>
        <p:nvSpPr>
          <p:cNvPr id="81" name="Text 77"/>
          <p:cNvSpPr txBox="1"/>
          <p:nvPr/>
        </p:nvSpPr>
        <p:spPr>
          <a:xfrm>
            <a:off x="5120640" y="5733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56367"/>
                </a:solidFill>
              </a:rPr>
              <a:t>Data pipeline and ML components are built; backend, mobile and smartwatch integration are planned.</a:t>
            </a:r>
            <a:endParaRPr lang="en-US" sz="850" dirty="0"/>
          </a:p>
        </p:txBody>
      </p:sp>
      <p:sp>
        <p:nvSpPr>
          <p:cNvPr id="82" name="hdr-Tech Stack (-circle"/>
          <p:cNvSpPr/>
          <p:nvPr/>
        </p:nvSpPr>
        <p:spPr>
          <a:xfrm>
            <a:off x="8641080" y="1005840"/>
            <a:ext cx="274320" cy="274320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3" name="hdr-Tech Stack (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430" y="1066190"/>
            <a:ext cx="153619" cy="153619"/>
          </a:xfrm>
          <a:prstGeom prst="rect">
            <a:avLst/>
          </a:prstGeom>
        </p:spPr>
      </p:pic>
      <p:sp>
        <p:nvSpPr>
          <p:cNvPr id="84" name="Text 79"/>
          <p:cNvSpPr txBox="1"/>
          <p:nvPr/>
        </p:nvSpPr>
        <p:spPr>
          <a:xfrm>
            <a:off x="8988552" y="9875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Tech Stack (Built)</a:t>
            </a:r>
            <a:endParaRPr lang="en-US" sz="1600" dirty="0"/>
          </a:p>
        </p:txBody>
      </p:sp>
      <p:sp>
        <p:nvSpPr>
          <p:cNvPr id="85" name="Shape 80"/>
          <p:cNvSpPr/>
          <p:nvPr/>
        </p:nvSpPr>
        <p:spPr>
          <a:xfrm>
            <a:off x="8641080" y="1371600"/>
            <a:ext cx="3291840" cy="685800"/>
          </a:xfrm>
          <a:prstGeom prst="roundRect">
            <a:avLst>
              <a:gd name="adj" fmla="val 16000"/>
            </a:avLst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1"/>
          <p:cNvSpPr/>
          <p:nvPr/>
        </p:nvSpPr>
        <p:spPr>
          <a:xfrm>
            <a:off x="8778240" y="1435608"/>
            <a:ext cx="16002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2"/>
          <p:cNvSpPr txBox="1"/>
          <p:nvPr/>
        </p:nvSpPr>
        <p:spPr>
          <a:xfrm>
            <a:off x="8778240" y="1435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2D2F"/>
                </a:solidFill>
              </a:rPr>
              <a:t>Language</a:t>
            </a:r>
            <a:endParaRPr lang="en-US" sz="900" dirty="0"/>
          </a:p>
        </p:txBody>
      </p:sp>
      <p:sp>
        <p:nvSpPr>
          <p:cNvPr id="88" name="Text 83"/>
          <p:cNvSpPr txBox="1"/>
          <p:nvPr/>
        </p:nvSpPr>
        <p:spPr>
          <a:xfrm>
            <a:off x="8778240" y="165506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Python, Jupyter Notebook</a:t>
            </a:r>
            <a:endParaRPr lang="en-US" sz="1050" dirty="0"/>
          </a:p>
        </p:txBody>
      </p:sp>
      <p:sp>
        <p:nvSpPr>
          <p:cNvPr id="89" name="Shape 84"/>
          <p:cNvSpPr/>
          <p:nvPr/>
        </p:nvSpPr>
        <p:spPr>
          <a:xfrm>
            <a:off x="8641080" y="2130552"/>
            <a:ext cx="3291840" cy="685800"/>
          </a:xfrm>
          <a:prstGeom prst="roundRect">
            <a:avLst>
              <a:gd name="adj" fmla="val 16000"/>
            </a:avLst>
          </a:prstGeom>
          <a:solidFill>
            <a:srgbClr val="7F1D1F"/>
          </a:solidFill>
          <a:ln w="12700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5"/>
          <p:cNvSpPr/>
          <p:nvPr/>
        </p:nvSpPr>
        <p:spPr>
          <a:xfrm>
            <a:off x="8778240" y="2194560"/>
            <a:ext cx="16002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 txBox="1"/>
          <p:nvPr/>
        </p:nvSpPr>
        <p:spPr>
          <a:xfrm>
            <a:off x="8778240" y="21945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F1D1F"/>
                </a:solidFill>
              </a:rPr>
              <a:t>Data Processing</a:t>
            </a:r>
            <a:endParaRPr lang="en-US" sz="900" dirty="0"/>
          </a:p>
        </p:txBody>
      </p:sp>
      <p:sp>
        <p:nvSpPr>
          <p:cNvPr id="92" name="Text 87"/>
          <p:cNvSpPr txBox="1"/>
          <p:nvPr/>
        </p:nvSpPr>
        <p:spPr>
          <a:xfrm>
            <a:off x="8778240" y="241401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Pandas, NumPy</a:t>
            </a:r>
            <a:endParaRPr lang="en-US" sz="1050" dirty="0"/>
          </a:p>
        </p:txBody>
      </p:sp>
      <p:sp>
        <p:nvSpPr>
          <p:cNvPr id="93" name="Shape 88"/>
          <p:cNvSpPr/>
          <p:nvPr/>
        </p:nvSpPr>
        <p:spPr>
          <a:xfrm>
            <a:off x="8641080" y="2889504"/>
            <a:ext cx="3291840" cy="685800"/>
          </a:xfrm>
          <a:prstGeom prst="roundRect">
            <a:avLst>
              <a:gd name="adj" fmla="val 16000"/>
            </a:avLst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89"/>
          <p:cNvSpPr/>
          <p:nvPr/>
        </p:nvSpPr>
        <p:spPr>
          <a:xfrm>
            <a:off x="8778240" y="2953512"/>
            <a:ext cx="16002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0"/>
          <p:cNvSpPr txBox="1"/>
          <p:nvPr/>
        </p:nvSpPr>
        <p:spPr>
          <a:xfrm>
            <a:off x="8778240" y="29535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2D2F"/>
                </a:solidFill>
              </a:rPr>
              <a:t>ML Models</a:t>
            </a:r>
            <a:endParaRPr lang="en-US" sz="900" dirty="0"/>
          </a:p>
        </p:txBody>
      </p:sp>
      <p:sp>
        <p:nvSpPr>
          <p:cNvPr id="96" name="Text 91"/>
          <p:cNvSpPr txBox="1"/>
          <p:nvPr/>
        </p:nvSpPr>
        <p:spPr>
          <a:xfrm>
            <a:off x="8778240" y="31729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LightGBM, XGBoost, Random Forest, Logistic Regression</a:t>
            </a:r>
            <a:endParaRPr lang="en-US" sz="1050" dirty="0"/>
          </a:p>
        </p:txBody>
      </p:sp>
      <p:sp>
        <p:nvSpPr>
          <p:cNvPr id="97" name="Shape 92"/>
          <p:cNvSpPr/>
          <p:nvPr/>
        </p:nvSpPr>
        <p:spPr>
          <a:xfrm>
            <a:off x="8641080" y="3648456"/>
            <a:ext cx="3291840" cy="685800"/>
          </a:xfrm>
          <a:prstGeom prst="roundRect">
            <a:avLst>
              <a:gd name="adj" fmla="val 16000"/>
            </a:avLst>
          </a:prstGeom>
          <a:solidFill>
            <a:srgbClr val="7F1D1F"/>
          </a:solidFill>
          <a:ln w="12700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3"/>
          <p:cNvSpPr/>
          <p:nvPr/>
        </p:nvSpPr>
        <p:spPr>
          <a:xfrm>
            <a:off x="8778240" y="3712464"/>
            <a:ext cx="16002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4"/>
          <p:cNvSpPr txBox="1"/>
          <p:nvPr/>
        </p:nvSpPr>
        <p:spPr>
          <a:xfrm>
            <a:off x="8778240" y="37124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F1D1F"/>
                </a:solidFill>
              </a:rPr>
              <a:t>Optimization</a:t>
            </a:r>
            <a:endParaRPr lang="en-US" sz="900" dirty="0"/>
          </a:p>
        </p:txBody>
      </p:sp>
      <p:sp>
        <p:nvSpPr>
          <p:cNvPr id="100" name="Text 95"/>
          <p:cNvSpPr txBox="1"/>
          <p:nvPr/>
        </p:nvSpPr>
        <p:spPr>
          <a:xfrm>
            <a:off x="8778240" y="3931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Optuna, Scikit-learn</a:t>
            </a:r>
            <a:endParaRPr lang="en-US" sz="1050" dirty="0"/>
          </a:p>
        </p:txBody>
      </p:sp>
      <p:sp>
        <p:nvSpPr>
          <p:cNvPr id="101" name="Shape 96"/>
          <p:cNvSpPr/>
          <p:nvPr/>
        </p:nvSpPr>
        <p:spPr>
          <a:xfrm>
            <a:off x="8641080" y="4407408"/>
            <a:ext cx="3291840" cy="685800"/>
          </a:xfrm>
          <a:prstGeom prst="roundRect">
            <a:avLst>
              <a:gd name="adj" fmla="val 16000"/>
            </a:avLst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97"/>
          <p:cNvSpPr/>
          <p:nvPr/>
        </p:nvSpPr>
        <p:spPr>
          <a:xfrm>
            <a:off x="8778240" y="4471416"/>
            <a:ext cx="16002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8"/>
          <p:cNvSpPr txBox="1"/>
          <p:nvPr/>
        </p:nvSpPr>
        <p:spPr>
          <a:xfrm>
            <a:off x="8778240" y="44714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2D2F"/>
                </a:solidFill>
              </a:rPr>
              <a:t>Explainable AI</a:t>
            </a:r>
            <a:endParaRPr lang="en-US" sz="900" dirty="0"/>
          </a:p>
        </p:txBody>
      </p:sp>
      <p:sp>
        <p:nvSpPr>
          <p:cNvPr id="104" name="Text 99"/>
          <p:cNvSpPr txBox="1"/>
          <p:nvPr/>
        </p:nvSpPr>
        <p:spPr>
          <a:xfrm>
            <a:off x="8778240" y="46908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SHAP, Bootstrap Ensemble</a:t>
            </a:r>
            <a:endParaRPr lang="en-US" sz="1050" dirty="0"/>
          </a:p>
        </p:txBody>
      </p:sp>
      <p:sp>
        <p:nvSpPr>
          <p:cNvPr id="105" name="Shape 100"/>
          <p:cNvSpPr/>
          <p:nvPr/>
        </p:nvSpPr>
        <p:spPr>
          <a:xfrm>
            <a:off x="8641080" y="5166360"/>
            <a:ext cx="3291840" cy="685800"/>
          </a:xfrm>
          <a:prstGeom prst="roundRect">
            <a:avLst>
              <a:gd name="adj" fmla="val 16000"/>
            </a:avLst>
          </a:prstGeom>
          <a:solidFill>
            <a:srgbClr val="7F1D1F"/>
          </a:solidFill>
          <a:ln w="12700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1"/>
          <p:cNvSpPr/>
          <p:nvPr/>
        </p:nvSpPr>
        <p:spPr>
          <a:xfrm>
            <a:off x="8778240" y="5230368"/>
            <a:ext cx="16002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102"/>
          <p:cNvSpPr txBox="1"/>
          <p:nvPr/>
        </p:nvSpPr>
        <p:spPr>
          <a:xfrm>
            <a:off x="8778240" y="52303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F1D1F"/>
                </a:solidFill>
              </a:rPr>
              <a:t>Risk Engine</a:t>
            </a:r>
            <a:endParaRPr lang="en-US" sz="900" dirty="0"/>
          </a:p>
        </p:txBody>
      </p:sp>
      <p:sp>
        <p:nvSpPr>
          <p:cNvPr id="108" name="Text 103"/>
          <p:cNvSpPr txBox="1"/>
          <p:nvPr/>
        </p:nvSpPr>
        <p:spPr>
          <a:xfrm>
            <a:off x="8778240" y="544982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Python, YAML, Pytest</a:t>
            </a:r>
            <a:endParaRPr lang="en-US" sz="1050" dirty="0"/>
          </a:p>
        </p:txBody>
      </p:sp>
      <p:sp>
        <p:nvSpPr>
          <p:cNvPr id="109" name="Shape 104"/>
          <p:cNvSpPr/>
          <p:nvPr/>
        </p:nvSpPr>
        <p:spPr>
          <a:xfrm>
            <a:off x="8641080" y="5925312"/>
            <a:ext cx="3291840" cy="685800"/>
          </a:xfrm>
          <a:prstGeom prst="roundRect">
            <a:avLst>
              <a:gd name="adj" fmla="val 16000"/>
            </a:avLst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Shape 105"/>
          <p:cNvSpPr/>
          <p:nvPr/>
        </p:nvSpPr>
        <p:spPr>
          <a:xfrm>
            <a:off x="8778240" y="5989320"/>
            <a:ext cx="16002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6"/>
          <p:cNvSpPr txBox="1"/>
          <p:nvPr/>
        </p:nvSpPr>
        <p:spPr>
          <a:xfrm>
            <a:off x="8778240" y="59893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2D2F"/>
                </a:solidFill>
              </a:rPr>
              <a:t>Visualization &amp; Reports</a:t>
            </a:r>
            <a:endParaRPr lang="en-US" sz="900" dirty="0"/>
          </a:p>
        </p:txBody>
      </p:sp>
      <p:sp>
        <p:nvSpPr>
          <p:cNvPr id="112" name="Text 107"/>
          <p:cNvSpPr txBox="1"/>
          <p:nvPr/>
        </p:nvSpPr>
        <p:spPr>
          <a:xfrm>
            <a:off x="8778240" y="620877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Matplotlib, Markdown, HTML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am-label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74320"/>
            <a:ext cx="274320" cy="274320"/>
          </a:xfrm>
          <a:prstGeom prst="rect">
            <a:avLst/>
          </a:prstGeom>
        </p:spPr>
      </p:pic>
      <p:sp>
        <p:nvSpPr>
          <p:cNvPr id="3" name="team-label"/>
          <p:cNvSpPr txBox="1"/>
          <p:nvPr/>
        </p:nvSpPr>
        <p:spPr>
          <a:xfrm>
            <a:off x="9235440" y="228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 Twin  |  Team AyuRaksha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91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FEASIBILITY AND VIABILITY</a:t>
            </a:r>
            <a:endParaRPr lang="en-US" sz="3000" dirty="0"/>
          </a:p>
        </p:txBody>
      </p:sp>
      <p:sp>
        <p:nvSpPr>
          <p:cNvPr id="5" name="hdr-Challenges /-circle"/>
          <p:cNvSpPr/>
          <p:nvPr/>
        </p:nvSpPr>
        <p:spPr>
          <a:xfrm>
            <a:off x="274320" y="987552"/>
            <a:ext cx="274320" cy="274320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hdr-Challenges /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" y="1047902"/>
            <a:ext cx="153619" cy="15361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" y="96926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Challenges / Risks &amp; Strategies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274320" y="1353312"/>
            <a:ext cx="1874520" cy="274320"/>
          </a:xfrm>
          <a:prstGeom prst="roundRect">
            <a:avLst>
              <a:gd name="adj" fmla="val 26667"/>
            </a:avLst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 txBox="1"/>
          <p:nvPr/>
        </p:nvSpPr>
        <p:spPr>
          <a:xfrm>
            <a:off x="274320" y="1353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Challenge / Risk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423160" y="1353312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 txBox="1"/>
          <p:nvPr/>
        </p:nvSpPr>
        <p:spPr>
          <a:xfrm>
            <a:off x="2423160" y="1353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Strategy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1737360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FBEAEA"/>
          </a:solidFill>
          <a:ln w="952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 txBox="1"/>
          <p:nvPr/>
        </p:nvSpPr>
        <p:spPr>
          <a:xfrm>
            <a:off x="329184" y="173736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2D2F"/>
                </a:solidFill>
              </a:rPr>
              <a:t>1. Missing / stale sensor data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2157984" y="1737360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56367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2423160" y="1737360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6563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8024" y="1847088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706624" y="17373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3A3A"/>
                </a:solidFill>
              </a:rPr>
              <a:t>Freshness gate: stale input never scores LOW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274320" y="2212848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FBEAEA"/>
          </a:solidFill>
          <a:ln w="952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 txBox="1"/>
          <p:nvPr/>
        </p:nvSpPr>
        <p:spPr>
          <a:xfrm>
            <a:off x="329184" y="221284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2D2F"/>
                </a:solidFill>
              </a:rPr>
              <a:t>2. Black-box predictions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2157984" y="2212848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56367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2423160" y="2212848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6563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8024" y="2322576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2706624" y="22128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3A3A"/>
                </a:solidFill>
              </a:rPr>
              <a:t>Exact SHAP + evidence-backed SAR report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274320" y="2688336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FBEAEA"/>
          </a:solidFill>
          <a:ln w="952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 txBox="1"/>
          <p:nvPr/>
        </p:nvSpPr>
        <p:spPr>
          <a:xfrm>
            <a:off x="329184" y="268833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2D2F"/>
                </a:solidFill>
              </a:rPr>
              <a:t>3. Missed emergencies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2157984" y="2688336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56367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2423160" y="2688336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6563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8024" y="2798064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2706624" y="268833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3A3A"/>
                </a:solidFill>
              </a:rPr>
              <a:t>Emergency rules run before &amp; independent of model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274320" y="3163824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FBEAEA"/>
          </a:solidFill>
          <a:ln w="952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4"/>
          <p:cNvSpPr txBox="1"/>
          <p:nvPr/>
        </p:nvSpPr>
        <p:spPr>
          <a:xfrm>
            <a:off x="329184" y="316382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2D2F"/>
                </a:solidFill>
              </a:rPr>
              <a:t>4. Noisy or impossible readings</a:t>
            </a:r>
            <a:endParaRPr lang="en-US" sz="950" dirty="0"/>
          </a:p>
        </p:txBody>
      </p:sp>
      <p:sp>
        <p:nvSpPr>
          <p:cNvPr id="32" name="Text 25"/>
          <p:cNvSpPr txBox="1"/>
          <p:nvPr/>
        </p:nvSpPr>
        <p:spPr>
          <a:xfrm>
            <a:off x="2157984" y="3163824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56367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2423160" y="3163824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6563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8024" y="3273552"/>
            <a:ext cx="182880" cy="18288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2706624" y="316382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3A3A"/>
                </a:solidFill>
              </a:rPr>
              <a:t>Validation of units, duplicates and ranges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274320" y="3639312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FBEAEA"/>
          </a:solidFill>
          <a:ln w="952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29"/>
          <p:cNvSpPr txBox="1"/>
          <p:nvPr/>
        </p:nvSpPr>
        <p:spPr>
          <a:xfrm>
            <a:off x="329184" y="363931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2D2F"/>
                </a:solidFill>
              </a:rPr>
              <a:t>5. Unstable risk scores</a:t>
            </a:r>
            <a:endParaRPr lang="en-US" sz="950" dirty="0"/>
          </a:p>
        </p:txBody>
      </p:sp>
      <p:sp>
        <p:nvSpPr>
          <p:cNvPr id="38" name="Text 30"/>
          <p:cNvSpPr txBox="1"/>
          <p:nvPr/>
        </p:nvSpPr>
        <p:spPr>
          <a:xfrm>
            <a:off x="2157984" y="3639312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56367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1"/>
          <p:cNvSpPr/>
          <p:nvPr/>
        </p:nvSpPr>
        <p:spPr>
          <a:xfrm>
            <a:off x="2423160" y="3639312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6563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8024" y="3749040"/>
            <a:ext cx="182880" cy="18288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2706624" y="363931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3A3A"/>
                </a:solidFill>
              </a:rPr>
              <a:t>50 bootstrap refits + tier hysteresis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274320" y="4114800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FBEAEA"/>
          </a:solidFill>
          <a:ln w="952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4"/>
          <p:cNvSpPr txBox="1"/>
          <p:nvPr/>
        </p:nvSpPr>
        <p:spPr>
          <a:xfrm>
            <a:off x="329184" y="411480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2D2F"/>
                </a:solidFill>
              </a:rPr>
              <a:t>6. Alert fatigue</a:t>
            </a:r>
            <a:endParaRPr lang="en-US" sz="950" dirty="0"/>
          </a:p>
        </p:txBody>
      </p:sp>
      <p:sp>
        <p:nvSpPr>
          <p:cNvPr id="44" name="Text 35"/>
          <p:cNvSpPr txBox="1"/>
          <p:nvPr/>
        </p:nvSpPr>
        <p:spPr>
          <a:xfrm>
            <a:off x="2157984" y="4114800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56367"/>
                </a:solidFill>
              </a:rPr>
              <a:t>→</a:t>
            </a:r>
            <a:endParaRPr lang="en-US" sz="1400" dirty="0"/>
          </a:p>
        </p:txBody>
      </p:sp>
      <p:sp>
        <p:nvSpPr>
          <p:cNvPr id="45" name="Shape 36"/>
          <p:cNvSpPr/>
          <p:nvPr/>
        </p:nvSpPr>
        <p:spPr>
          <a:xfrm>
            <a:off x="2423160" y="4114800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6563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8024" y="4224528"/>
            <a:ext cx="182880" cy="18288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2706624" y="41148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3A3A"/>
                </a:solidFill>
              </a:rPr>
              <a:t>De-duplication, cooldown and audit log</a:t>
            </a:r>
            <a:endParaRPr lang="en-US" sz="950" dirty="0"/>
          </a:p>
        </p:txBody>
      </p:sp>
      <p:sp>
        <p:nvSpPr>
          <p:cNvPr id="48" name="Shape 38"/>
          <p:cNvSpPr/>
          <p:nvPr/>
        </p:nvSpPr>
        <p:spPr>
          <a:xfrm>
            <a:off x="274320" y="4590288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FBEAEA"/>
          </a:solidFill>
          <a:ln w="952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39"/>
          <p:cNvSpPr txBox="1"/>
          <p:nvPr/>
        </p:nvSpPr>
        <p:spPr>
          <a:xfrm>
            <a:off x="329184" y="459028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2D2F"/>
                </a:solidFill>
              </a:rPr>
              <a:t>7. Clinical &amp; regulatory risk</a:t>
            </a:r>
            <a:endParaRPr lang="en-US" sz="950" dirty="0"/>
          </a:p>
        </p:txBody>
      </p:sp>
      <p:sp>
        <p:nvSpPr>
          <p:cNvPr id="50" name="Text 40"/>
          <p:cNvSpPr txBox="1"/>
          <p:nvPr/>
        </p:nvSpPr>
        <p:spPr>
          <a:xfrm>
            <a:off x="2157984" y="4590288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56367"/>
                </a:solidFill>
              </a:rPr>
              <a:t>→</a:t>
            </a:r>
            <a:endParaRPr lang="en-US" sz="1400" dirty="0"/>
          </a:p>
        </p:txBody>
      </p:sp>
      <p:sp>
        <p:nvSpPr>
          <p:cNvPr id="51" name="Shape 41"/>
          <p:cNvSpPr/>
          <p:nvPr/>
        </p:nvSpPr>
        <p:spPr>
          <a:xfrm>
            <a:off x="2423160" y="4590288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6563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8024" y="4700016"/>
            <a:ext cx="182880" cy="182880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2706624" y="45902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3A3A"/>
                </a:solidFill>
              </a:rPr>
              <a:t>Not diagnostic; clinical validation before use</a:t>
            </a:r>
            <a:endParaRPr lang="en-US" sz="950" dirty="0"/>
          </a:p>
        </p:txBody>
      </p:sp>
      <p:sp>
        <p:nvSpPr>
          <p:cNvPr id="54" name="hdr-Key Performa-circle"/>
          <p:cNvSpPr/>
          <p:nvPr/>
        </p:nvSpPr>
        <p:spPr>
          <a:xfrm>
            <a:off x="274320" y="5138928"/>
            <a:ext cx="274320" cy="274320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5" name="hdr-Key Performa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670" y="5199278"/>
            <a:ext cx="153619" cy="153619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621792" y="51206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Key Performance Indicators</a:t>
            </a:r>
            <a:endParaRPr lang="en-US" sz="1500" dirty="0"/>
          </a:p>
        </p:txBody>
      </p:sp>
      <p:sp>
        <p:nvSpPr>
          <p:cNvPr id="57" name="Shape 45"/>
          <p:cNvSpPr/>
          <p:nvPr/>
        </p:nvSpPr>
        <p:spPr>
          <a:xfrm>
            <a:off x="274320" y="5486400"/>
            <a:ext cx="1024128" cy="1170432"/>
          </a:xfrm>
          <a:prstGeom prst="roundRect">
            <a:avLst>
              <a:gd name="adj" fmla="val 10714"/>
            </a:avLst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46"/>
          <p:cNvSpPr txBox="1"/>
          <p:nvPr/>
        </p:nvSpPr>
        <p:spPr>
          <a:xfrm>
            <a:off x="274320" y="554126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211</a:t>
            </a:r>
            <a:endParaRPr lang="en-US" sz="2200" dirty="0"/>
          </a:p>
        </p:txBody>
      </p:sp>
      <p:sp>
        <p:nvSpPr>
          <p:cNvPr id="59" name="Text 47"/>
          <p:cNvSpPr txBox="1"/>
          <p:nvPr/>
        </p:nvSpPr>
        <p:spPr>
          <a:xfrm>
            <a:off x="310896" y="6016752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9D9"/>
                </a:solidFill>
              </a:rPr>
              <a:t>engineered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D9D9"/>
                </a:solidFill>
              </a:rPr>
              <a:t>cardiac features</a:t>
            </a:r>
            <a:endParaRPr lang="en-US" sz="900" dirty="0"/>
          </a:p>
        </p:txBody>
      </p:sp>
      <p:sp>
        <p:nvSpPr>
          <p:cNvPr id="60" name="Shape 48"/>
          <p:cNvSpPr/>
          <p:nvPr/>
        </p:nvSpPr>
        <p:spPr>
          <a:xfrm>
            <a:off x="1371600" y="5486400"/>
            <a:ext cx="1024128" cy="1170432"/>
          </a:xfrm>
          <a:prstGeom prst="roundRect">
            <a:avLst>
              <a:gd name="adj" fmla="val 10714"/>
            </a:avLst>
          </a:prstGeom>
          <a:solidFill>
            <a:srgbClr val="7F1D1F"/>
          </a:solidFill>
          <a:ln w="12700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49"/>
          <p:cNvSpPr txBox="1"/>
          <p:nvPr/>
        </p:nvSpPr>
        <p:spPr>
          <a:xfrm>
            <a:off x="1371600" y="554126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48</a:t>
            </a:r>
            <a:endParaRPr lang="en-US" sz="2200" dirty="0"/>
          </a:p>
        </p:txBody>
      </p:sp>
      <p:sp>
        <p:nvSpPr>
          <p:cNvPr id="62" name="Text 50"/>
          <p:cNvSpPr txBox="1"/>
          <p:nvPr/>
        </p:nvSpPr>
        <p:spPr>
          <a:xfrm>
            <a:off x="1408176" y="6016752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9D9"/>
                </a:solidFill>
              </a:rPr>
              <a:t>risk-engine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D9D9"/>
                </a:solidFill>
              </a:rPr>
              <a:t>tests pass</a:t>
            </a:r>
            <a:endParaRPr lang="en-US" sz="900" dirty="0"/>
          </a:p>
        </p:txBody>
      </p:sp>
      <p:sp>
        <p:nvSpPr>
          <p:cNvPr id="63" name="Shape 51"/>
          <p:cNvSpPr/>
          <p:nvPr/>
        </p:nvSpPr>
        <p:spPr>
          <a:xfrm>
            <a:off x="2468880" y="5486400"/>
            <a:ext cx="1024128" cy="1170432"/>
          </a:xfrm>
          <a:prstGeom prst="roundRect">
            <a:avLst>
              <a:gd name="adj" fmla="val 10714"/>
            </a:avLst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52"/>
          <p:cNvSpPr txBox="1"/>
          <p:nvPr/>
        </p:nvSpPr>
        <p:spPr>
          <a:xfrm>
            <a:off x="2468880" y="554126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99.7%</a:t>
            </a:r>
            <a:endParaRPr lang="en-US" sz="2200" dirty="0"/>
          </a:p>
        </p:txBody>
      </p:sp>
      <p:sp>
        <p:nvSpPr>
          <p:cNvPr id="65" name="Text 53"/>
          <p:cNvSpPr txBox="1"/>
          <p:nvPr/>
        </p:nvSpPr>
        <p:spPr>
          <a:xfrm>
            <a:off x="2505456" y="6016752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9D9"/>
                </a:solidFill>
              </a:rPr>
              <a:t>same tier 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D9D9"/>
                </a:solidFill>
              </a:rPr>
              <a:t>validated model</a:t>
            </a:r>
            <a:endParaRPr lang="en-US" sz="900" dirty="0"/>
          </a:p>
        </p:txBody>
      </p:sp>
      <p:sp>
        <p:nvSpPr>
          <p:cNvPr id="66" name="Shape 54"/>
          <p:cNvSpPr/>
          <p:nvPr/>
        </p:nvSpPr>
        <p:spPr>
          <a:xfrm>
            <a:off x="3566160" y="5486400"/>
            <a:ext cx="1024128" cy="1170432"/>
          </a:xfrm>
          <a:prstGeom prst="roundRect">
            <a:avLst>
              <a:gd name="adj" fmla="val 10714"/>
            </a:avLst>
          </a:prstGeom>
          <a:solidFill>
            <a:srgbClr val="7F1D1F"/>
          </a:solidFill>
          <a:ln w="12700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55"/>
          <p:cNvSpPr txBox="1"/>
          <p:nvPr/>
        </p:nvSpPr>
        <p:spPr>
          <a:xfrm>
            <a:off x="3566160" y="554126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21</a:t>
            </a:r>
            <a:endParaRPr lang="en-US" sz="2200" dirty="0"/>
          </a:p>
        </p:txBody>
      </p:sp>
      <p:sp>
        <p:nvSpPr>
          <p:cNvPr id="68" name="Text 56"/>
          <p:cNvSpPr txBox="1"/>
          <p:nvPr/>
        </p:nvSpPr>
        <p:spPr>
          <a:xfrm>
            <a:off x="3602736" y="6016752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9D9"/>
                </a:solidFill>
              </a:rPr>
              <a:t>what-if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D9D9"/>
                </a:solidFill>
              </a:rPr>
              <a:t>levers</a:t>
            </a:r>
            <a:endParaRPr lang="en-US" sz="900" dirty="0"/>
          </a:p>
        </p:txBody>
      </p:sp>
      <p:sp>
        <p:nvSpPr>
          <p:cNvPr id="69" name="hdr-Feasibility -circle"/>
          <p:cNvSpPr/>
          <p:nvPr/>
        </p:nvSpPr>
        <p:spPr>
          <a:xfrm>
            <a:off x="4892040" y="987552"/>
            <a:ext cx="274320" cy="274320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0" name="hdr-Feasibility -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2390" y="1047902"/>
            <a:ext cx="153619" cy="153619"/>
          </a:xfrm>
          <a:prstGeom prst="rect">
            <a:avLst/>
          </a:prstGeom>
        </p:spPr>
      </p:pic>
      <p:sp>
        <p:nvSpPr>
          <p:cNvPr id="71" name="Text 58"/>
          <p:cNvSpPr txBox="1"/>
          <p:nvPr/>
        </p:nvSpPr>
        <p:spPr>
          <a:xfrm>
            <a:off x="5239512" y="9692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Feasibility of the Idea</a:t>
            </a:r>
            <a:endParaRPr lang="en-US" sz="1500" dirty="0"/>
          </a:p>
        </p:txBody>
      </p:sp>
      <p:sp>
        <p:nvSpPr>
          <p:cNvPr id="72" name="Shape 59"/>
          <p:cNvSpPr/>
          <p:nvPr/>
        </p:nvSpPr>
        <p:spPr>
          <a:xfrm>
            <a:off x="4892040" y="1353312"/>
            <a:ext cx="70408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feas0-circle"/>
          <p:cNvSpPr/>
          <p:nvPr/>
        </p:nvSpPr>
        <p:spPr>
          <a:xfrm>
            <a:off x="4983480" y="1463040"/>
            <a:ext cx="329184" cy="329184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4" name="feas0-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5900" y="1535460"/>
            <a:ext cx="184343" cy="184343"/>
          </a:xfrm>
          <a:prstGeom prst="rect">
            <a:avLst/>
          </a:prstGeom>
        </p:spPr>
      </p:pic>
      <p:sp>
        <p:nvSpPr>
          <p:cNvPr id="75" name="Text 61"/>
          <p:cNvSpPr txBox="1"/>
          <p:nvPr/>
        </p:nvSpPr>
        <p:spPr>
          <a:xfrm>
            <a:off x="5394960" y="13990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F"/>
                </a:solidFill>
              </a:rPr>
              <a:t>Technical</a:t>
            </a:r>
            <a:endParaRPr lang="en-US" sz="1100" dirty="0"/>
          </a:p>
        </p:txBody>
      </p:sp>
      <p:sp>
        <p:nvSpPr>
          <p:cNvPr id="76" name="Shape 62"/>
          <p:cNvSpPr/>
          <p:nvPr/>
        </p:nvSpPr>
        <p:spPr>
          <a:xfrm>
            <a:off x="5394960" y="1655064"/>
            <a:ext cx="1463040" cy="192024"/>
          </a:xfrm>
          <a:prstGeom prst="roundRect">
            <a:avLst>
              <a:gd name="adj" fmla="val 4761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63"/>
          <p:cNvSpPr txBox="1"/>
          <p:nvPr/>
        </p:nvSpPr>
        <p:spPr>
          <a:xfrm>
            <a:off x="5394960" y="1655064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78" name="Text 64"/>
          <p:cNvSpPr txBox="1"/>
          <p:nvPr/>
        </p:nvSpPr>
        <p:spPr>
          <a:xfrm>
            <a:off x="7086600" y="1380744"/>
            <a:ext cx="4773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2626"/>
                </a:solidFill>
              </a:rPr>
              <a:t>Extends the existing ML pipeline with chatbot APIs, frontend components, backend endpoints and Google Maps; reusing current models cuts development effort.</a:t>
            </a:r>
            <a:endParaRPr lang="en-US" sz="950" dirty="0"/>
          </a:p>
        </p:txBody>
      </p:sp>
      <p:sp>
        <p:nvSpPr>
          <p:cNvPr id="79" name="Shape 65"/>
          <p:cNvSpPr/>
          <p:nvPr/>
        </p:nvSpPr>
        <p:spPr>
          <a:xfrm>
            <a:off x="4892040" y="1956816"/>
            <a:ext cx="70408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feas1-circle"/>
          <p:cNvSpPr/>
          <p:nvPr/>
        </p:nvSpPr>
        <p:spPr>
          <a:xfrm>
            <a:off x="4983480" y="2066544"/>
            <a:ext cx="329184" cy="329184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1" name="feas1-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5900" y="2138964"/>
            <a:ext cx="184343" cy="184343"/>
          </a:xfrm>
          <a:prstGeom prst="rect">
            <a:avLst/>
          </a:prstGeom>
        </p:spPr>
      </p:pic>
      <p:sp>
        <p:nvSpPr>
          <p:cNvPr id="82" name="Text 67"/>
          <p:cNvSpPr txBox="1"/>
          <p:nvPr/>
        </p:nvSpPr>
        <p:spPr>
          <a:xfrm>
            <a:off x="5394960" y="200253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F"/>
                </a:solidFill>
              </a:rPr>
              <a:t>Economic</a:t>
            </a:r>
            <a:endParaRPr lang="en-US" sz="1100" dirty="0"/>
          </a:p>
        </p:txBody>
      </p:sp>
      <p:sp>
        <p:nvSpPr>
          <p:cNvPr id="83" name="Shape 68"/>
          <p:cNvSpPr/>
          <p:nvPr/>
        </p:nvSpPr>
        <p:spPr>
          <a:xfrm>
            <a:off x="5394960" y="2258568"/>
            <a:ext cx="1463040" cy="192024"/>
          </a:xfrm>
          <a:prstGeom prst="roundRect">
            <a:avLst>
              <a:gd name="adj" fmla="val 47619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69"/>
          <p:cNvSpPr txBox="1"/>
          <p:nvPr/>
        </p:nvSpPr>
        <p:spPr>
          <a:xfrm>
            <a:off x="5394960" y="2258568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Moderate to High</a:t>
            </a:r>
            <a:endParaRPr lang="en-US" sz="850" dirty="0"/>
          </a:p>
        </p:txBody>
      </p:sp>
      <p:sp>
        <p:nvSpPr>
          <p:cNvPr id="85" name="Text 70"/>
          <p:cNvSpPr txBox="1"/>
          <p:nvPr/>
        </p:nvSpPr>
        <p:spPr>
          <a:xfrm>
            <a:off x="7086600" y="1984248"/>
            <a:ext cx="4773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2626"/>
                </a:solidFill>
              </a:rPr>
              <a:t>Incremental build is cheaper than a rebuild; AI-API, Maps, hosting, security and live ambulance integrations add recurring costs.</a:t>
            </a:r>
            <a:endParaRPr lang="en-US" sz="950" dirty="0"/>
          </a:p>
        </p:txBody>
      </p:sp>
      <p:sp>
        <p:nvSpPr>
          <p:cNvPr id="86" name="Shape 71"/>
          <p:cNvSpPr/>
          <p:nvPr/>
        </p:nvSpPr>
        <p:spPr>
          <a:xfrm>
            <a:off x="4892040" y="2560320"/>
            <a:ext cx="70408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feas2-circle"/>
          <p:cNvSpPr/>
          <p:nvPr/>
        </p:nvSpPr>
        <p:spPr>
          <a:xfrm>
            <a:off x="4983480" y="2670048"/>
            <a:ext cx="329184" cy="329184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8" name="feas2-icon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5900" y="2742468"/>
            <a:ext cx="184343" cy="184343"/>
          </a:xfrm>
          <a:prstGeom prst="rect">
            <a:avLst/>
          </a:prstGeom>
        </p:spPr>
      </p:pic>
      <p:sp>
        <p:nvSpPr>
          <p:cNvPr id="89" name="Text 73"/>
          <p:cNvSpPr txBox="1"/>
          <p:nvPr/>
        </p:nvSpPr>
        <p:spPr>
          <a:xfrm>
            <a:off x="5394960" y="26060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F"/>
                </a:solidFill>
              </a:rPr>
              <a:t>Operational</a:t>
            </a:r>
            <a:endParaRPr lang="en-US" sz="1100" dirty="0"/>
          </a:p>
        </p:txBody>
      </p:sp>
      <p:sp>
        <p:nvSpPr>
          <p:cNvPr id="90" name="Shape 74"/>
          <p:cNvSpPr/>
          <p:nvPr/>
        </p:nvSpPr>
        <p:spPr>
          <a:xfrm>
            <a:off x="5394960" y="2862072"/>
            <a:ext cx="1463040" cy="192024"/>
          </a:xfrm>
          <a:prstGeom prst="roundRect">
            <a:avLst>
              <a:gd name="adj" fmla="val 4761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75"/>
          <p:cNvSpPr txBox="1"/>
          <p:nvPr/>
        </p:nvSpPr>
        <p:spPr>
          <a:xfrm>
            <a:off x="5394960" y="2862072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 (software)</a:t>
            </a:r>
            <a:endParaRPr lang="en-US" sz="850" dirty="0"/>
          </a:p>
        </p:txBody>
      </p:sp>
      <p:sp>
        <p:nvSpPr>
          <p:cNvPr id="92" name="Text 76"/>
          <p:cNvSpPr txBox="1"/>
          <p:nvPr/>
        </p:nvSpPr>
        <p:spPr>
          <a:xfrm>
            <a:off x="7086600" y="2587752"/>
            <a:ext cx="4773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2626"/>
                </a:solidFill>
              </a:rPr>
              <a:t>Chatbot, CAD education, wellness tips and reports fit the current UI; ambulance dispatch and live tracking need external coordination.</a:t>
            </a:r>
            <a:endParaRPr lang="en-US" sz="950" dirty="0"/>
          </a:p>
        </p:txBody>
      </p:sp>
      <p:sp>
        <p:nvSpPr>
          <p:cNvPr id="93" name="Shape 77"/>
          <p:cNvSpPr/>
          <p:nvPr/>
        </p:nvSpPr>
        <p:spPr>
          <a:xfrm>
            <a:off x="4892040" y="3163824"/>
            <a:ext cx="70408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feas3-circle"/>
          <p:cNvSpPr/>
          <p:nvPr/>
        </p:nvSpPr>
        <p:spPr>
          <a:xfrm>
            <a:off x="4983480" y="3273552"/>
            <a:ext cx="329184" cy="329184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5" name="feas3-icon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55900" y="3345972"/>
            <a:ext cx="184343" cy="184343"/>
          </a:xfrm>
          <a:prstGeom prst="rect">
            <a:avLst/>
          </a:prstGeom>
        </p:spPr>
      </p:pic>
      <p:sp>
        <p:nvSpPr>
          <p:cNvPr id="96" name="Text 79"/>
          <p:cNvSpPr txBox="1"/>
          <p:nvPr/>
        </p:nvSpPr>
        <p:spPr>
          <a:xfrm>
            <a:off x="5394960" y="320954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F"/>
                </a:solidFill>
              </a:rPr>
              <a:t>Data</a:t>
            </a:r>
            <a:endParaRPr lang="en-US" sz="1100" dirty="0"/>
          </a:p>
        </p:txBody>
      </p:sp>
      <p:sp>
        <p:nvSpPr>
          <p:cNvPr id="97" name="Shape 80"/>
          <p:cNvSpPr/>
          <p:nvPr/>
        </p:nvSpPr>
        <p:spPr>
          <a:xfrm>
            <a:off x="5394960" y="3465576"/>
            <a:ext cx="1463040" cy="192024"/>
          </a:xfrm>
          <a:prstGeom prst="roundRect">
            <a:avLst>
              <a:gd name="adj" fmla="val 47619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Text 81"/>
          <p:cNvSpPr txBox="1"/>
          <p:nvPr/>
        </p:nvSpPr>
        <p:spPr>
          <a:xfrm>
            <a:off x="5394960" y="346557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Moderate</a:t>
            </a:r>
            <a:endParaRPr lang="en-US" sz="850" dirty="0"/>
          </a:p>
        </p:txBody>
      </p:sp>
      <p:sp>
        <p:nvSpPr>
          <p:cNvPr id="99" name="Text 82"/>
          <p:cNvSpPr txBox="1"/>
          <p:nvPr/>
        </p:nvSpPr>
        <p:spPr>
          <a:xfrm>
            <a:off x="7086600" y="3191256"/>
            <a:ext cx="4773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2626"/>
                </a:solidFill>
              </a:rPr>
              <a:t>Risk scores and SHAP explanations are reusable; insights depend on data completeness, timestamps, sensor accuracy and CAD validation.</a:t>
            </a:r>
            <a:endParaRPr lang="en-US" sz="950" dirty="0"/>
          </a:p>
        </p:txBody>
      </p:sp>
      <p:sp>
        <p:nvSpPr>
          <p:cNvPr id="100" name="Shape 83"/>
          <p:cNvSpPr/>
          <p:nvPr/>
        </p:nvSpPr>
        <p:spPr>
          <a:xfrm>
            <a:off x="4892040" y="3767328"/>
            <a:ext cx="70408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feas4-circle"/>
          <p:cNvSpPr/>
          <p:nvPr/>
        </p:nvSpPr>
        <p:spPr>
          <a:xfrm>
            <a:off x="4983480" y="3877056"/>
            <a:ext cx="329184" cy="329184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2" name="feas4-icon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55900" y="3949476"/>
            <a:ext cx="184343" cy="184343"/>
          </a:xfrm>
          <a:prstGeom prst="rect">
            <a:avLst/>
          </a:prstGeom>
        </p:spPr>
      </p:pic>
      <p:sp>
        <p:nvSpPr>
          <p:cNvPr id="103" name="Text 85"/>
          <p:cNvSpPr txBox="1"/>
          <p:nvPr/>
        </p:nvSpPr>
        <p:spPr>
          <a:xfrm>
            <a:off x="5394960" y="381304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F"/>
                </a:solidFill>
              </a:rPr>
              <a:t>Safety &amp; Regulatory</a:t>
            </a:r>
            <a:endParaRPr lang="en-US" sz="1100" dirty="0"/>
          </a:p>
        </p:txBody>
      </p:sp>
      <p:sp>
        <p:nvSpPr>
          <p:cNvPr id="104" name="Shape 86"/>
          <p:cNvSpPr/>
          <p:nvPr/>
        </p:nvSpPr>
        <p:spPr>
          <a:xfrm>
            <a:off x="5394960" y="4069080"/>
            <a:ext cx="1463040" cy="192024"/>
          </a:xfrm>
          <a:prstGeom prst="roundRect">
            <a:avLst>
              <a:gd name="adj" fmla="val 47619"/>
            </a:avLst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87"/>
          <p:cNvSpPr txBox="1"/>
          <p:nvPr/>
        </p:nvSpPr>
        <p:spPr>
          <a:xfrm>
            <a:off x="5394960" y="4069080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Requires validation</a:t>
            </a:r>
            <a:endParaRPr lang="en-US" sz="850" dirty="0"/>
          </a:p>
        </p:txBody>
      </p:sp>
      <p:sp>
        <p:nvSpPr>
          <p:cNvPr id="106" name="Text 88"/>
          <p:cNvSpPr txBox="1"/>
          <p:nvPr/>
        </p:nvSpPr>
        <p:spPr>
          <a:xfrm>
            <a:off x="7086600" y="3794760"/>
            <a:ext cx="4773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2626"/>
                </a:solidFill>
              </a:rPr>
              <a:t>Educational features are achievable now; CAD risk, clinical advice and emergency detection need clinical validation, privacy safeguards and regulatory review.</a:t>
            </a:r>
            <a:endParaRPr lang="en-US" sz="950" dirty="0"/>
          </a:p>
        </p:txBody>
      </p:sp>
      <p:sp>
        <p:nvSpPr>
          <p:cNvPr id="107" name="hdr-Viability-circle"/>
          <p:cNvSpPr/>
          <p:nvPr/>
        </p:nvSpPr>
        <p:spPr>
          <a:xfrm>
            <a:off x="4892040" y="4462272"/>
            <a:ext cx="274320" cy="274320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8" name="hdr-Viability-icon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2390" y="4522622"/>
            <a:ext cx="153619" cy="153619"/>
          </a:xfrm>
          <a:prstGeom prst="rect">
            <a:avLst/>
          </a:prstGeom>
        </p:spPr>
      </p:pic>
      <p:sp>
        <p:nvSpPr>
          <p:cNvPr id="109" name="Text 90"/>
          <p:cNvSpPr txBox="1"/>
          <p:nvPr/>
        </p:nvSpPr>
        <p:spPr>
          <a:xfrm>
            <a:off x="5239512" y="44439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Viability</a:t>
            </a:r>
            <a:endParaRPr lang="en-US" sz="1500" dirty="0"/>
          </a:p>
        </p:txBody>
      </p:sp>
      <p:sp>
        <p:nvSpPr>
          <p:cNvPr id="110" name="Shape 91"/>
          <p:cNvSpPr/>
          <p:nvPr/>
        </p:nvSpPr>
        <p:spPr>
          <a:xfrm>
            <a:off x="4892040" y="4809744"/>
            <a:ext cx="1700784" cy="1865376"/>
          </a:xfrm>
          <a:prstGeom prst="roundRect">
            <a:avLst>
              <a:gd name="adj" fmla="val 6452"/>
            </a:avLst>
          </a:prstGeom>
          <a:solidFill>
            <a:srgbClr val="7F1D1F"/>
          </a:solidFill>
          <a:ln w="12700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via0-circle"/>
          <p:cNvSpPr/>
          <p:nvPr/>
        </p:nvSpPr>
        <p:spPr>
          <a:xfrm>
            <a:off x="4983480" y="490118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2" name="via0-icon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51877" y="4969581"/>
            <a:ext cx="174102" cy="174102"/>
          </a:xfrm>
          <a:prstGeom prst="rect">
            <a:avLst/>
          </a:prstGeom>
        </p:spPr>
      </p:pic>
      <p:sp>
        <p:nvSpPr>
          <p:cNvPr id="113" name="Text 93"/>
          <p:cNvSpPr txBox="1"/>
          <p:nvPr/>
        </p:nvSpPr>
        <p:spPr>
          <a:xfrm>
            <a:off x="5349240" y="487375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Healthcare</a:t>
            </a:r>
            <a:endParaRPr lang="en-US" sz="1050" dirty="0"/>
          </a:p>
        </p:txBody>
      </p:sp>
      <p:sp>
        <p:nvSpPr>
          <p:cNvPr id="114" name="Shape 94"/>
          <p:cNvSpPr/>
          <p:nvPr/>
        </p:nvSpPr>
        <p:spPr>
          <a:xfrm>
            <a:off x="4983480" y="5303520"/>
            <a:ext cx="1517904" cy="192024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Text 95"/>
          <p:cNvSpPr txBox="1"/>
          <p:nvPr/>
        </p:nvSpPr>
        <p:spPr>
          <a:xfrm>
            <a:off x="4983480" y="5303520"/>
            <a:ext cx="15179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</a:rPr>
              <a:t>High potential</a:t>
            </a:r>
            <a:endParaRPr lang="en-US" sz="850" dirty="0"/>
          </a:p>
        </p:txBody>
      </p:sp>
      <p:sp>
        <p:nvSpPr>
          <p:cNvPr id="116" name="Text 96"/>
          <p:cNvSpPr txBox="1"/>
          <p:nvPr/>
        </p:nvSpPr>
        <p:spPr>
          <a:xfrm>
            <a:off x="4983480" y="5541264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Helps users understand risk factors, spot warning signs, track trends and prepare for doctor visits, within clear clinical boundaries.</a:t>
            </a:r>
            <a:endParaRPr lang="en-US" sz="950" dirty="0"/>
          </a:p>
        </p:txBody>
      </p:sp>
      <p:sp>
        <p:nvSpPr>
          <p:cNvPr id="117" name="Shape 97"/>
          <p:cNvSpPr/>
          <p:nvPr/>
        </p:nvSpPr>
        <p:spPr>
          <a:xfrm>
            <a:off x="6679692" y="4809744"/>
            <a:ext cx="1700784" cy="1865376"/>
          </a:xfrm>
          <a:prstGeom prst="roundRect">
            <a:avLst>
              <a:gd name="adj" fmla="val 6452"/>
            </a:avLst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8" name="via1-circle"/>
          <p:cNvSpPr/>
          <p:nvPr/>
        </p:nvSpPr>
        <p:spPr>
          <a:xfrm>
            <a:off x="6771132" y="490118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9" name="via1-icon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39529" y="4969581"/>
            <a:ext cx="174102" cy="174102"/>
          </a:xfrm>
          <a:prstGeom prst="rect">
            <a:avLst/>
          </a:prstGeom>
        </p:spPr>
      </p:pic>
      <p:sp>
        <p:nvSpPr>
          <p:cNvPr id="120" name="Text 99"/>
          <p:cNvSpPr txBox="1"/>
          <p:nvPr/>
        </p:nvSpPr>
        <p:spPr>
          <a:xfrm>
            <a:off x="7136892" y="487375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 Adoption</a:t>
            </a:r>
            <a:endParaRPr lang="en-US" sz="1050" dirty="0"/>
          </a:p>
        </p:txBody>
      </p:sp>
      <p:sp>
        <p:nvSpPr>
          <p:cNvPr id="121" name="Shape 100"/>
          <p:cNvSpPr/>
          <p:nvPr/>
        </p:nvSpPr>
        <p:spPr>
          <a:xfrm>
            <a:off x="6771132" y="5303520"/>
            <a:ext cx="1517904" cy="192024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Text 101"/>
          <p:cNvSpPr txBox="1"/>
          <p:nvPr/>
        </p:nvSpPr>
        <p:spPr>
          <a:xfrm>
            <a:off x="6771132" y="5303520"/>
            <a:ext cx="15179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</a:rPr>
              <a:t>High potential</a:t>
            </a:r>
            <a:endParaRPr lang="en-US" sz="850" dirty="0"/>
          </a:p>
        </p:txBody>
      </p:sp>
      <p:sp>
        <p:nvSpPr>
          <p:cNvPr id="123" name="Text 102"/>
          <p:cNvSpPr txBox="1"/>
          <p:nvPr/>
        </p:nvSpPr>
        <p:spPr>
          <a:xfrm>
            <a:off x="6771132" y="5541264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 conversational interface, simple explanations, Hindi support and accessible controls are easier than complex dashboards.</a:t>
            </a:r>
            <a:endParaRPr lang="en-US" sz="950" dirty="0"/>
          </a:p>
        </p:txBody>
      </p:sp>
      <p:sp>
        <p:nvSpPr>
          <p:cNvPr id="124" name="Shape 103"/>
          <p:cNvSpPr/>
          <p:nvPr/>
        </p:nvSpPr>
        <p:spPr>
          <a:xfrm>
            <a:off x="8467344" y="4809744"/>
            <a:ext cx="1700784" cy="1865376"/>
          </a:xfrm>
          <a:prstGeom prst="roundRect">
            <a:avLst>
              <a:gd name="adj" fmla="val 6452"/>
            </a:avLst>
          </a:prstGeom>
          <a:solidFill>
            <a:srgbClr val="7F1D1F"/>
          </a:solidFill>
          <a:ln w="12700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via2-circle"/>
          <p:cNvSpPr/>
          <p:nvPr/>
        </p:nvSpPr>
        <p:spPr>
          <a:xfrm>
            <a:off x="8558784" y="490118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6" name="via2-icon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27181" y="4969581"/>
            <a:ext cx="174102" cy="174102"/>
          </a:xfrm>
          <a:prstGeom prst="rect">
            <a:avLst/>
          </a:prstGeom>
        </p:spPr>
      </p:pic>
      <p:sp>
        <p:nvSpPr>
          <p:cNvPr id="127" name="Text 105"/>
          <p:cNvSpPr txBox="1"/>
          <p:nvPr/>
        </p:nvSpPr>
        <p:spPr>
          <a:xfrm>
            <a:off x="8924544" y="487375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Business</a:t>
            </a:r>
            <a:endParaRPr lang="en-US" sz="1050" dirty="0"/>
          </a:p>
        </p:txBody>
      </p:sp>
      <p:sp>
        <p:nvSpPr>
          <p:cNvPr id="128" name="Shape 106"/>
          <p:cNvSpPr/>
          <p:nvPr/>
        </p:nvSpPr>
        <p:spPr>
          <a:xfrm>
            <a:off x="8558784" y="5303520"/>
            <a:ext cx="1517904" cy="192024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Text 107"/>
          <p:cNvSpPr txBox="1"/>
          <p:nvPr/>
        </p:nvSpPr>
        <p:spPr>
          <a:xfrm>
            <a:off x="8558784" y="5303520"/>
            <a:ext cx="15179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86E00"/>
                </a:solidFill>
              </a:rPr>
              <a:t>Conditional</a:t>
            </a:r>
            <a:endParaRPr lang="en-US" sz="850" dirty="0"/>
          </a:p>
        </p:txBody>
      </p:sp>
      <p:sp>
        <p:nvSpPr>
          <p:cNvPr id="130" name="Text 108"/>
          <p:cNvSpPr txBox="1"/>
          <p:nvPr/>
        </p:nvSpPr>
        <p:spPr>
          <a:xfrm>
            <a:off x="8558784" y="5541264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Individuals, clinics, cardiac-care providers and health programs; depends on proven usefulness, trust, partnerships and willingness to pay.</a:t>
            </a:r>
            <a:endParaRPr lang="en-US" sz="950" dirty="0"/>
          </a:p>
        </p:txBody>
      </p:sp>
      <p:sp>
        <p:nvSpPr>
          <p:cNvPr id="131" name="Shape 109"/>
          <p:cNvSpPr/>
          <p:nvPr/>
        </p:nvSpPr>
        <p:spPr>
          <a:xfrm>
            <a:off x="10254996" y="4809744"/>
            <a:ext cx="1700784" cy="1865376"/>
          </a:xfrm>
          <a:prstGeom prst="roundRect">
            <a:avLst>
              <a:gd name="adj" fmla="val 6452"/>
            </a:avLst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via3-circle"/>
          <p:cNvSpPr/>
          <p:nvPr/>
        </p:nvSpPr>
        <p:spPr>
          <a:xfrm>
            <a:off x="10346436" y="490118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3" name="via3-icon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14833" y="4969581"/>
            <a:ext cx="174102" cy="174102"/>
          </a:xfrm>
          <a:prstGeom prst="rect">
            <a:avLst/>
          </a:prstGeom>
        </p:spPr>
      </p:pic>
      <p:sp>
        <p:nvSpPr>
          <p:cNvPr id="134" name="Text 111"/>
          <p:cNvSpPr txBox="1"/>
          <p:nvPr/>
        </p:nvSpPr>
        <p:spPr>
          <a:xfrm>
            <a:off x="10712196" y="487375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Long-term Sustainability</a:t>
            </a:r>
            <a:endParaRPr lang="en-US" sz="1050" dirty="0"/>
          </a:p>
        </p:txBody>
      </p:sp>
      <p:sp>
        <p:nvSpPr>
          <p:cNvPr id="135" name="Shape 112"/>
          <p:cNvSpPr/>
          <p:nvPr/>
        </p:nvSpPr>
        <p:spPr>
          <a:xfrm>
            <a:off x="10346436" y="5303520"/>
            <a:ext cx="1517904" cy="192024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Text 113"/>
          <p:cNvSpPr txBox="1"/>
          <p:nvPr/>
        </p:nvSpPr>
        <p:spPr>
          <a:xfrm>
            <a:off x="10346436" y="5303520"/>
            <a:ext cx="15179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86E00"/>
                </a:solidFill>
              </a:rPr>
              <a:t>Moderate to high</a:t>
            </a:r>
            <a:endParaRPr lang="en-US" sz="850" dirty="0"/>
          </a:p>
        </p:txBody>
      </p:sp>
      <p:sp>
        <p:nvSpPr>
          <p:cNvPr id="137" name="Text 114"/>
          <p:cNvSpPr txBox="1"/>
          <p:nvPr/>
        </p:nvSpPr>
        <p:spPr>
          <a:xfrm>
            <a:off x="10346436" y="5541264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Modular design adds features incrementally; budget for model monitoring, API costs, content updates, security and wearable changes.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am-label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74320"/>
            <a:ext cx="274320" cy="274320"/>
          </a:xfrm>
          <a:prstGeom prst="rect">
            <a:avLst/>
          </a:prstGeom>
        </p:spPr>
      </p:pic>
      <p:sp>
        <p:nvSpPr>
          <p:cNvPr id="3" name="team-label"/>
          <p:cNvSpPr txBox="1"/>
          <p:nvPr/>
        </p:nvSpPr>
        <p:spPr>
          <a:xfrm>
            <a:off x="9235440" y="228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 Twin  |  Team AyuRaksha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91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IMPACT AND BENEFITS</a:t>
            </a:r>
            <a:endParaRPr lang="en-US" sz="3000" dirty="0"/>
          </a:p>
        </p:txBody>
      </p:sp>
      <p:sp>
        <p:nvSpPr>
          <p:cNvPr id="5" name="hdr-Potential Im-circle"/>
          <p:cNvSpPr/>
          <p:nvPr/>
        </p:nvSpPr>
        <p:spPr>
          <a:xfrm>
            <a:off x="274320" y="987552"/>
            <a:ext cx="274320" cy="274320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hdr-Potential Im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" y="1047902"/>
            <a:ext cx="153619" cy="15361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" y="9692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Potential Impact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274320" y="1335024"/>
            <a:ext cx="5486400" cy="1645920"/>
          </a:xfrm>
          <a:prstGeom prst="roundRect">
            <a:avLst>
              <a:gd name="adj" fmla="val 6667"/>
            </a:avLst>
          </a:prstGeom>
          <a:solidFill>
            <a:srgbClr val="7F1D1F"/>
          </a:solidFill>
          <a:ln w="9525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 txBox="1"/>
          <p:nvPr/>
        </p:nvSpPr>
        <p:spPr>
          <a:xfrm>
            <a:off x="411480" y="1389888"/>
            <a:ext cx="52578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FD9D9"/>
                </a:solidFill>
              </a:rPr>
              <a:t>Heart Health Awareness</a:t>
            </a:r>
            <a:r>
              <a:rPr lang="en-US" sz="1100" dirty="0">
                <a:solidFill>
                  <a:srgbClr val="FFFFFF"/>
                </a:solidFill>
              </a:rPr>
              <a:t> — educates the public on CAD and heart-disease prevention.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FD9D9"/>
                </a:solidFill>
              </a:rPr>
              <a:t>Early Risk Awareness</a:t>
            </a:r>
            <a:r>
              <a:rPr lang="en-US" sz="1100" dirty="0">
                <a:solidFill>
                  <a:srgbClr val="FFFFFF"/>
                </a:solidFill>
              </a:rPr>
              <a:t> — helps identify potential cardiac risk factors early.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FD9D9"/>
                </a:solidFill>
              </a:rPr>
              <a:t>Healthy Lifestyle</a:t>
            </a:r>
            <a:r>
              <a:rPr lang="en-US" sz="1100" dirty="0">
                <a:solidFill>
                  <a:srgbClr val="FFFFFF"/>
                </a:solidFill>
              </a:rPr>
              <a:t> — encourages better nutrition and physical activity.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FD9D9"/>
                </a:solidFill>
              </a:rPr>
              <a:t>Easy Access</a:t>
            </a:r>
            <a:r>
              <a:rPr lang="en-US" sz="1100" dirty="0">
                <a:solidFill>
                  <a:srgbClr val="FFFFFF"/>
                </a:solidFill>
              </a:rPr>
              <a:t> — convenient, AI-based health information in plain language.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FD9D9"/>
                </a:solidFill>
              </a:rPr>
              <a:t>Emergency Support</a:t>
            </a:r>
            <a:r>
              <a:rPr lang="en-US" sz="1100" dirty="0">
                <a:solidFill>
                  <a:srgbClr val="FFFFFF"/>
                </a:solidFill>
              </a:rPr>
              <a:t> — links cardiac alerts with hospital navigation.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FD9D9"/>
                </a:solidFill>
              </a:rPr>
              <a:t>Wider Reach</a:t>
            </a:r>
            <a:r>
              <a:rPr lang="en-US" sz="1100" dirty="0">
                <a:solidFill>
                  <a:srgbClr val="FFFFFF"/>
                </a:solidFill>
              </a:rPr>
              <a:t> — cardiac health education for underserved communities.</a:t>
            </a:r>
            <a:endParaRPr lang="en-US" sz="1100" dirty="0"/>
          </a:p>
        </p:txBody>
      </p:sp>
      <p:sp>
        <p:nvSpPr>
          <p:cNvPr id="10" name="hdr-Benefits-circle"/>
          <p:cNvSpPr/>
          <p:nvPr/>
        </p:nvSpPr>
        <p:spPr>
          <a:xfrm>
            <a:off x="274320" y="3090672"/>
            <a:ext cx="274320" cy="274320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hdr-Benefits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" y="3151022"/>
            <a:ext cx="153619" cy="15361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1792" y="30723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Benefits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274320" y="3438144"/>
            <a:ext cx="5486400" cy="3236976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ben0-circle"/>
          <p:cNvSpPr/>
          <p:nvPr/>
        </p:nvSpPr>
        <p:spPr>
          <a:xfrm>
            <a:off x="384048" y="3621024"/>
            <a:ext cx="384048" cy="384048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ben0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539" y="3705515"/>
            <a:ext cx="215067" cy="21506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96112" y="3529584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2D2F"/>
                </a:solidFill>
              </a:rPr>
              <a:t>Improved cardiac health awareness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</a:rPr>
              <a:t>Understand CAD, risk factors, symptoms and prevention through accessible explanations.</a:t>
            </a:r>
            <a:endParaRPr lang="en-US" sz="1100" dirty="0"/>
          </a:p>
        </p:txBody>
      </p:sp>
      <p:sp>
        <p:nvSpPr>
          <p:cNvPr id="17" name="ben1-circle"/>
          <p:cNvSpPr/>
          <p:nvPr/>
        </p:nvSpPr>
        <p:spPr>
          <a:xfrm>
            <a:off x="384048" y="4242816"/>
            <a:ext cx="384048" cy="384048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ben1-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539" y="4327307"/>
            <a:ext cx="215067" cy="21506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96112" y="4151376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2D2F"/>
                </a:solidFill>
              </a:rPr>
              <a:t>Easier access to health information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</a:rPr>
              <a:t>Ask questions in natural language instead of navigating complex medical dashboards.</a:t>
            </a:r>
            <a:endParaRPr lang="en-US" sz="1100" dirty="0"/>
          </a:p>
        </p:txBody>
      </p:sp>
      <p:sp>
        <p:nvSpPr>
          <p:cNvPr id="20" name="ben2-circle"/>
          <p:cNvSpPr/>
          <p:nvPr/>
        </p:nvSpPr>
        <p:spPr>
          <a:xfrm>
            <a:off x="384048" y="4864608"/>
            <a:ext cx="384048" cy="384048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ben2-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539" y="4949099"/>
            <a:ext cx="215067" cy="215067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896112" y="4773168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2D2F"/>
                </a:solidFill>
              </a:rPr>
              <a:t>Better emergency accessibility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</a:rPr>
              <a:t>Emergency contacts, hospital locations and supported ambulance tracking in one alert flow.</a:t>
            </a:r>
            <a:endParaRPr lang="en-US" sz="1100" dirty="0"/>
          </a:p>
        </p:txBody>
      </p:sp>
      <p:sp>
        <p:nvSpPr>
          <p:cNvPr id="23" name="ben3-circle"/>
          <p:cNvSpPr/>
          <p:nvPr/>
        </p:nvSpPr>
        <p:spPr>
          <a:xfrm>
            <a:off x="384048" y="5486400"/>
            <a:ext cx="384048" cy="384048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ben3-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539" y="5570891"/>
            <a:ext cx="215067" cy="215067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96112" y="5394960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2D2F"/>
                </a:solidFill>
              </a:rPr>
              <a:t>Healthier lifestyle decisions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</a:rPr>
              <a:t>Personalized nutrition, exercise guidance and daily wellness goals suited to each user.</a:t>
            </a:r>
            <a:endParaRPr lang="en-US" sz="1100" dirty="0"/>
          </a:p>
        </p:txBody>
      </p:sp>
      <p:sp>
        <p:nvSpPr>
          <p:cNvPr id="26" name="ben4-circle"/>
          <p:cNvSpPr/>
          <p:nvPr/>
        </p:nvSpPr>
        <p:spPr>
          <a:xfrm>
            <a:off x="384048" y="6108192"/>
            <a:ext cx="384048" cy="384048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ben4-icon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539" y="6192683"/>
            <a:ext cx="215067" cy="215067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96112" y="6016752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2D2F"/>
                </a:solidFill>
              </a:rPr>
              <a:t>More understandable AI predictions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</a:rPr>
              <a:t>SHAP shows which factors drive the risk score, supporting informed talks with doctors.</a:t>
            </a:r>
            <a:endParaRPr lang="en-US" sz="1100" dirty="0"/>
          </a:p>
        </p:txBody>
      </p:sp>
      <p:sp>
        <p:nvSpPr>
          <p:cNvPr id="29" name="hdr-Benefits in -circle"/>
          <p:cNvSpPr/>
          <p:nvPr/>
        </p:nvSpPr>
        <p:spPr>
          <a:xfrm>
            <a:off x="6080760" y="987552"/>
            <a:ext cx="274320" cy="274320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hdr-Benefits in -icon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1110" y="1047902"/>
            <a:ext cx="153619" cy="153619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428232" y="9692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Benefits in Action</a:t>
            </a:r>
            <a:endParaRPr lang="en-US" sz="1500" dirty="0"/>
          </a:p>
        </p:txBody>
      </p:sp>
      <p:pic>
        <p:nvPicPr>
          <p:cNvPr id="32" name="pic-Heart health awareness" descr="/tmp/claude-0/-home-claude/e3011655-2fd8-5a03-b361-35128aa000eb/scratchpad/hhx/ppt/media/image8.jpe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080760" y="1335024"/>
            <a:ext cx="1874520" cy="118872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6080760" y="1335024"/>
            <a:ext cx="1874520" cy="1188720"/>
          </a:xfrm>
          <a:prstGeom prst="rect">
            <a:avLst/>
          </a:prstGeom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2"/>
          <p:cNvSpPr txBox="1"/>
          <p:nvPr/>
        </p:nvSpPr>
        <p:spPr>
          <a:xfrm>
            <a:off x="6080760" y="255117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1D1F"/>
                </a:solidFill>
              </a:rPr>
              <a:t>Heart health awareness</a:t>
            </a:r>
            <a:endParaRPr lang="en-US" sz="1000" dirty="0"/>
          </a:p>
        </p:txBody>
      </p:sp>
      <p:pic>
        <p:nvPicPr>
          <p:cNvPr id="35" name="pic-AI chatbot access" descr="/tmp/claude-0/-home-claude/e3011655-2fd8-5a03-b361-35128aa000eb/scratchpad/hhx/ppt/media/image4.jpe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092440" y="1335024"/>
            <a:ext cx="1874520" cy="1188720"/>
          </a:xfrm>
          <a:prstGeom prst="rect">
            <a:avLst/>
          </a:prstGeom>
        </p:spPr>
      </p:pic>
      <p:sp>
        <p:nvSpPr>
          <p:cNvPr id="36" name="Shape 23"/>
          <p:cNvSpPr/>
          <p:nvPr/>
        </p:nvSpPr>
        <p:spPr>
          <a:xfrm>
            <a:off x="8092440" y="1335024"/>
            <a:ext cx="1874520" cy="1188720"/>
          </a:xfrm>
          <a:prstGeom prst="rect">
            <a:avLst/>
          </a:prstGeom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24"/>
          <p:cNvSpPr txBox="1"/>
          <p:nvPr/>
        </p:nvSpPr>
        <p:spPr>
          <a:xfrm>
            <a:off x="8092440" y="255117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1D1F"/>
                </a:solidFill>
              </a:rPr>
              <a:t>AI chatbot access</a:t>
            </a:r>
            <a:endParaRPr lang="en-US" sz="1000" dirty="0"/>
          </a:p>
        </p:txBody>
      </p:sp>
      <p:pic>
        <p:nvPicPr>
          <p:cNvPr id="38" name="pic-Emergency support" descr="/tmp/claude-0/-home-claude/e3011655-2fd8-5a03-b361-35128aa000eb/scratchpad/hhx/ppt/media/image5.jpe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104120" y="1335024"/>
            <a:ext cx="1874520" cy="1188720"/>
          </a:xfrm>
          <a:prstGeom prst="rect">
            <a:avLst/>
          </a:prstGeom>
        </p:spPr>
      </p:pic>
      <p:sp>
        <p:nvSpPr>
          <p:cNvPr id="39" name="Shape 25"/>
          <p:cNvSpPr/>
          <p:nvPr/>
        </p:nvSpPr>
        <p:spPr>
          <a:xfrm>
            <a:off x="10104120" y="1335024"/>
            <a:ext cx="1874520" cy="1188720"/>
          </a:xfrm>
          <a:prstGeom prst="rect">
            <a:avLst/>
          </a:prstGeom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26"/>
          <p:cNvSpPr txBox="1"/>
          <p:nvPr/>
        </p:nvSpPr>
        <p:spPr>
          <a:xfrm>
            <a:off x="10104120" y="255117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1D1F"/>
                </a:solidFill>
              </a:rPr>
              <a:t>Emergency support</a:t>
            </a:r>
            <a:endParaRPr lang="en-US" sz="1000" dirty="0"/>
          </a:p>
        </p:txBody>
      </p:sp>
      <p:pic>
        <p:nvPicPr>
          <p:cNvPr id="41" name="pic-Healthy Indian diet" descr="/tmp/claude-0/-home-claude/e3011655-2fd8-5a03-b361-35128aa000eb/scratchpad/hhx/ppt/media/image6.jpe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080760" y="2907792"/>
            <a:ext cx="1874520" cy="1188720"/>
          </a:xfrm>
          <a:prstGeom prst="rect">
            <a:avLst/>
          </a:prstGeom>
        </p:spPr>
      </p:pic>
      <p:sp>
        <p:nvSpPr>
          <p:cNvPr id="42" name="Shape 27"/>
          <p:cNvSpPr/>
          <p:nvPr/>
        </p:nvSpPr>
        <p:spPr>
          <a:xfrm>
            <a:off x="6080760" y="2907792"/>
            <a:ext cx="1874520" cy="1188720"/>
          </a:xfrm>
          <a:prstGeom prst="rect">
            <a:avLst/>
          </a:prstGeom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28"/>
          <p:cNvSpPr txBox="1"/>
          <p:nvPr/>
        </p:nvSpPr>
        <p:spPr>
          <a:xfrm>
            <a:off x="6080760" y="412394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1D1F"/>
                </a:solidFill>
              </a:rPr>
              <a:t>Healthy Indian diet</a:t>
            </a:r>
            <a:endParaRPr lang="en-US" sz="1000" dirty="0"/>
          </a:p>
        </p:txBody>
      </p:sp>
      <p:pic>
        <p:nvPicPr>
          <p:cNvPr id="44" name="pic-Explainable AI for doctors" descr="/tmp/claude-0/-home-claude/e3011655-2fd8-5a03-b361-35128aa000eb/scratchpad/hhx/ppt/media/image7.jpe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092440" y="2907792"/>
            <a:ext cx="1874520" cy="1188720"/>
          </a:xfrm>
          <a:prstGeom prst="rect">
            <a:avLst/>
          </a:prstGeom>
        </p:spPr>
      </p:pic>
      <p:sp>
        <p:nvSpPr>
          <p:cNvPr id="45" name="Shape 29"/>
          <p:cNvSpPr/>
          <p:nvPr/>
        </p:nvSpPr>
        <p:spPr>
          <a:xfrm>
            <a:off x="8092440" y="2907792"/>
            <a:ext cx="1874520" cy="1188720"/>
          </a:xfrm>
          <a:prstGeom prst="rect">
            <a:avLst/>
          </a:prstGeom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30"/>
          <p:cNvSpPr txBox="1"/>
          <p:nvPr/>
        </p:nvSpPr>
        <p:spPr>
          <a:xfrm>
            <a:off x="8092440" y="412394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1D1F"/>
                </a:solidFill>
              </a:rPr>
              <a:t>Explainable AI for doctors</a:t>
            </a:r>
            <a:endParaRPr lang="en-US" sz="1000" dirty="0"/>
          </a:p>
        </p:txBody>
      </p:sp>
      <p:sp>
        <p:nvSpPr>
          <p:cNvPr id="47" name="Shape 31"/>
          <p:cNvSpPr/>
          <p:nvPr/>
        </p:nvSpPr>
        <p:spPr>
          <a:xfrm>
            <a:off x="10104120" y="2907792"/>
            <a:ext cx="1874520" cy="1453896"/>
          </a:xfrm>
          <a:prstGeom prst="roundRect">
            <a:avLst>
              <a:gd name="adj" fmla="val 7547"/>
            </a:avLst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780" y="3044952"/>
            <a:ext cx="457200" cy="457200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10195560" y="354787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Better Heart Health for a Healthier Tomorrow</a:t>
            </a:r>
            <a:endParaRPr lang="en-US" sz="1300" dirty="0"/>
          </a:p>
        </p:txBody>
      </p:sp>
      <p:sp>
        <p:nvSpPr>
          <p:cNvPr id="50" name="hdr-Who Benefits-circle"/>
          <p:cNvSpPr/>
          <p:nvPr/>
        </p:nvSpPr>
        <p:spPr>
          <a:xfrm>
            <a:off x="6080760" y="4498848"/>
            <a:ext cx="274320" cy="274320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1" name="hdr-Who Benefits-icon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41110" y="4559198"/>
            <a:ext cx="153619" cy="153619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6428232" y="44805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Who Benefits</a:t>
            </a:r>
            <a:endParaRPr lang="en-US" sz="1500" dirty="0"/>
          </a:p>
        </p:txBody>
      </p:sp>
      <p:sp>
        <p:nvSpPr>
          <p:cNvPr id="53" name="Shape 35"/>
          <p:cNvSpPr/>
          <p:nvPr/>
        </p:nvSpPr>
        <p:spPr>
          <a:xfrm>
            <a:off x="6080760" y="484632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36"/>
          <p:cNvSpPr/>
          <p:nvPr/>
        </p:nvSpPr>
        <p:spPr>
          <a:xfrm>
            <a:off x="6153912" y="4919472"/>
            <a:ext cx="1728216" cy="329184"/>
          </a:xfrm>
          <a:prstGeom prst="roundRect">
            <a:avLst>
              <a:gd name="adj" fmla="val 27778"/>
            </a:avLst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5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27064" y="4974336"/>
            <a:ext cx="219456" cy="219456"/>
          </a:xfrm>
          <a:prstGeom prst="rect">
            <a:avLst/>
          </a:prstGeom>
        </p:spPr>
      </p:pic>
      <p:sp>
        <p:nvSpPr>
          <p:cNvPr id="56" name="Text 37"/>
          <p:cNvSpPr txBox="1"/>
          <p:nvPr/>
        </p:nvSpPr>
        <p:spPr>
          <a:xfrm>
            <a:off x="6492240" y="4919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Patients &amp; Families</a:t>
            </a:r>
            <a:endParaRPr lang="en-US" sz="1050" dirty="0"/>
          </a:p>
        </p:txBody>
      </p:sp>
      <p:sp>
        <p:nvSpPr>
          <p:cNvPr id="57" name="Text 38"/>
          <p:cNvSpPr txBox="1"/>
          <p:nvPr/>
        </p:nvSpPr>
        <p:spPr>
          <a:xfrm>
            <a:off x="6190488" y="5340096"/>
            <a:ext cx="16733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</a:rPr>
              <a:t>Risk tier in plain words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</a:rPr>
              <a:t>Daily wellness goals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</a:rPr>
              <a:t>User-confirmed 112 call</a:t>
            </a:r>
            <a:endParaRPr lang="en-US" sz="1100" dirty="0"/>
          </a:p>
        </p:txBody>
      </p:sp>
      <p:sp>
        <p:nvSpPr>
          <p:cNvPr id="58" name="Shape 39"/>
          <p:cNvSpPr/>
          <p:nvPr/>
        </p:nvSpPr>
        <p:spPr>
          <a:xfrm>
            <a:off x="8092440" y="484632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40"/>
          <p:cNvSpPr/>
          <p:nvPr/>
        </p:nvSpPr>
        <p:spPr>
          <a:xfrm>
            <a:off x="8165592" y="4919472"/>
            <a:ext cx="1728216" cy="329184"/>
          </a:xfrm>
          <a:prstGeom prst="roundRect">
            <a:avLst>
              <a:gd name="adj" fmla="val 27778"/>
            </a:avLst>
          </a:prstGeom>
          <a:solidFill>
            <a:srgbClr val="7F1D1F"/>
          </a:solidFill>
          <a:ln w="12700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0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38744" y="4974336"/>
            <a:ext cx="219456" cy="219456"/>
          </a:xfrm>
          <a:prstGeom prst="rect">
            <a:avLst/>
          </a:prstGeom>
        </p:spPr>
      </p:pic>
      <p:sp>
        <p:nvSpPr>
          <p:cNvPr id="61" name="Text 41"/>
          <p:cNvSpPr txBox="1"/>
          <p:nvPr/>
        </p:nvSpPr>
        <p:spPr>
          <a:xfrm>
            <a:off x="8503920" y="4919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Doctors &amp; Clinics</a:t>
            </a:r>
            <a:endParaRPr lang="en-US" sz="1050" dirty="0"/>
          </a:p>
        </p:txBody>
      </p:sp>
      <p:sp>
        <p:nvSpPr>
          <p:cNvPr id="62" name="Text 42"/>
          <p:cNvSpPr txBox="1"/>
          <p:nvPr/>
        </p:nvSpPr>
        <p:spPr>
          <a:xfrm>
            <a:off x="8202168" y="5340096"/>
            <a:ext cx="16733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</a:rPr>
              <a:t>Score + top SHAP reasons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</a:rPr>
              <a:t>SAR report and audit log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</a:rPr>
              <a:t>Better-prepared consultations</a:t>
            </a:r>
            <a:endParaRPr lang="en-US" sz="1100" dirty="0"/>
          </a:p>
        </p:txBody>
      </p:sp>
      <p:sp>
        <p:nvSpPr>
          <p:cNvPr id="63" name="Shape 43"/>
          <p:cNvSpPr/>
          <p:nvPr/>
        </p:nvSpPr>
        <p:spPr>
          <a:xfrm>
            <a:off x="10104120" y="484632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44"/>
          <p:cNvSpPr/>
          <p:nvPr/>
        </p:nvSpPr>
        <p:spPr>
          <a:xfrm>
            <a:off x="10177272" y="4919472"/>
            <a:ext cx="1728216" cy="329184"/>
          </a:xfrm>
          <a:prstGeom prst="roundRect">
            <a:avLst>
              <a:gd name="adj" fmla="val 27778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5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50424" y="4974336"/>
            <a:ext cx="219456" cy="219456"/>
          </a:xfrm>
          <a:prstGeom prst="rect">
            <a:avLst/>
          </a:prstGeom>
        </p:spPr>
      </p:pic>
      <p:sp>
        <p:nvSpPr>
          <p:cNvPr id="66" name="Text 45"/>
          <p:cNvSpPr txBox="1"/>
          <p:nvPr/>
        </p:nvSpPr>
        <p:spPr>
          <a:xfrm>
            <a:off x="10515600" y="4919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Public Health</a:t>
            </a:r>
            <a:endParaRPr lang="en-US" sz="1050" dirty="0"/>
          </a:p>
        </p:txBody>
      </p:sp>
      <p:sp>
        <p:nvSpPr>
          <p:cNvPr id="67" name="Text 46"/>
          <p:cNvSpPr txBox="1"/>
          <p:nvPr/>
        </p:nvSpPr>
        <p:spPr>
          <a:xfrm>
            <a:off x="10213848" y="5340096"/>
            <a:ext cx="16733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</a:rPr>
              <a:t>CAD awareness at scale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</a:rPr>
              <a:t>Hindi-language support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</a:rPr>
              <a:t>Reach underserved communities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am-label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74320"/>
            <a:ext cx="274320" cy="274320"/>
          </a:xfrm>
          <a:prstGeom prst="rect">
            <a:avLst/>
          </a:prstGeom>
        </p:spPr>
      </p:pic>
      <p:sp>
        <p:nvSpPr>
          <p:cNvPr id="3" name="team-label"/>
          <p:cNvSpPr txBox="1"/>
          <p:nvPr/>
        </p:nvSpPr>
        <p:spPr>
          <a:xfrm>
            <a:off x="9235440" y="228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 Twin  |  Team AyuRaksha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91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RESEARCH AND REFERENCES</a:t>
            </a:r>
            <a:endParaRPr lang="en-US" sz="3000" dirty="0"/>
          </a:p>
        </p:txBody>
      </p:sp>
      <p:sp>
        <p:nvSpPr>
          <p:cNvPr id="5" name="hdr-Research Wor-circle"/>
          <p:cNvSpPr/>
          <p:nvPr/>
        </p:nvSpPr>
        <p:spPr>
          <a:xfrm>
            <a:off x="320040" y="1005840"/>
            <a:ext cx="274320" cy="274320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hdr-Research Wor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" y="1066190"/>
            <a:ext cx="153619" cy="15361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67512" y="9875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Research Work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320040" y="137160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5"/>
          <p:cNvSpPr/>
          <p:nvPr/>
        </p:nvSpPr>
        <p:spPr>
          <a:xfrm>
            <a:off x="429768" y="1481328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B82D2F"/>
          </a:solidFill>
          <a:ln w="952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 txBox="1"/>
          <p:nvPr/>
        </p:nvSpPr>
        <p:spPr>
          <a:xfrm>
            <a:off x="429768" y="14813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rw0-circle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rw0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202082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1560" y="14813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Risk Prediction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05156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estimate cardiac risk from available health data.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20040" y="269748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429768" y="2807208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7F1D1F"/>
          </a:solidFill>
          <a:ln w="9525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 txBox="1"/>
          <p:nvPr/>
        </p:nvSpPr>
        <p:spPr>
          <a:xfrm>
            <a:off x="429768" y="280720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rw1-circle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rw1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3346704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51560" y="28072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1051560" y="3200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explains the factors influencing model predictions.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402336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429768" y="4133088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3A3A3A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 txBox="1"/>
          <p:nvPr/>
        </p:nvSpPr>
        <p:spPr>
          <a:xfrm>
            <a:off x="429768" y="41330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rw2-circle"/>
          <p:cNvSpPr/>
          <p:nvPr/>
        </p:nvSpPr>
        <p:spPr>
          <a:xfrm>
            <a:off x="457200" y="4572000"/>
            <a:ext cx="457200" cy="457200"/>
          </a:xfrm>
          <a:prstGeom prst="ellipse">
            <a:avLst/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rw2-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" y="467258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51560" y="41330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Health Education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51560" y="4526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information about coronary artery disease, risk factors and prevention.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20040" y="534924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429768" y="5458968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B82D2F"/>
          </a:solidFill>
          <a:ln w="952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4"/>
          <p:cNvSpPr txBox="1"/>
          <p:nvPr/>
        </p:nvSpPr>
        <p:spPr>
          <a:xfrm>
            <a:off x="429768" y="54589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rw3-circle"/>
          <p:cNvSpPr/>
          <p:nvPr/>
        </p:nvSpPr>
        <p:spPr>
          <a:xfrm>
            <a:off x="457200" y="5897880"/>
            <a:ext cx="457200" cy="457200"/>
          </a:xfrm>
          <a:prstGeom prst="ellipse">
            <a:avLst/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rw3-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784" y="5998464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051560" y="54589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Cardiac Support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1051560" y="5852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the existing emergency alert system and hospital navigation.</a:t>
            </a:r>
            <a:endParaRPr lang="en-US" sz="1100" dirty="0"/>
          </a:p>
        </p:txBody>
      </p:sp>
      <p:sp>
        <p:nvSpPr>
          <p:cNvPr id="36" name="hdr-References &amp;-circle"/>
          <p:cNvSpPr/>
          <p:nvPr/>
        </p:nvSpPr>
        <p:spPr>
          <a:xfrm>
            <a:off x="4114800" y="1005840"/>
            <a:ext cx="274320" cy="274320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hdr-References &amp;-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5150" y="1066190"/>
            <a:ext cx="153619" cy="153619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4462272" y="9875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References &amp; Data Sources</a:t>
            </a:r>
            <a:endParaRPr lang="en-US" sz="1500" dirty="0"/>
          </a:p>
        </p:txBody>
      </p:sp>
      <p:sp>
        <p:nvSpPr>
          <p:cNvPr id="39" name="Shape 30"/>
          <p:cNvSpPr/>
          <p:nvPr/>
        </p:nvSpPr>
        <p:spPr>
          <a:xfrm>
            <a:off x="4114800" y="137160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ref0-circle"/>
          <p:cNvSpPr/>
          <p:nvPr/>
        </p:nvSpPr>
        <p:spPr>
          <a:xfrm>
            <a:off x="4206240" y="1508760"/>
            <a:ext cx="329184" cy="329184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1" name="ref0-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8660" y="1581180"/>
            <a:ext cx="184343" cy="184343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4645152" y="1426464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for research and benchmarking.</a:t>
            </a:r>
            <a:endParaRPr lang="en-US" sz="1100" dirty="0"/>
          </a:p>
        </p:txBody>
      </p:sp>
      <p:sp>
        <p:nvSpPr>
          <p:cNvPr id="43" name="ref1-circle"/>
          <p:cNvSpPr/>
          <p:nvPr/>
        </p:nvSpPr>
        <p:spPr>
          <a:xfrm>
            <a:off x="4206240" y="2016252"/>
            <a:ext cx="329184" cy="329184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4" name="ref1-icon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8660" y="2088672"/>
            <a:ext cx="184343" cy="184343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4645152" y="1933956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Documentation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evaluation and calibration.</a:t>
            </a:r>
            <a:endParaRPr lang="en-US" sz="1100" dirty="0"/>
          </a:p>
        </p:txBody>
      </p:sp>
      <p:sp>
        <p:nvSpPr>
          <p:cNvPr id="46" name="ref2-circle"/>
          <p:cNvSpPr/>
          <p:nvPr/>
        </p:nvSpPr>
        <p:spPr>
          <a:xfrm>
            <a:off x="4206240" y="2523744"/>
            <a:ext cx="329184" cy="329184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7" name="ref2-icon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78660" y="2596164"/>
            <a:ext cx="184343" cy="184343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4645152" y="2441448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Documentation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machine learning.</a:t>
            </a:r>
            <a:endParaRPr lang="en-US" sz="1100" dirty="0"/>
          </a:p>
        </p:txBody>
      </p:sp>
      <p:sp>
        <p:nvSpPr>
          <p:cNvPr id="49" name="ref3-circle"/>
          <p:cNvSpPr/>
          <p:nvPr/>
        </p:nvSpPr>
        <p:spPr>
          <a:xfrm>
            <a:off x="4206240" y="3031236"/>
            <a:ext cx="329184" cy="329184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" name="ref3-icon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78660" y="3103656"/>
            <a:ext cx="184343" cy="184343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4645152" y="294894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Heart Association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health education and prevention guidance.</a:t>
            </a:r>
            <a:endParaRPr lang="en-US" sz="1100" dirty="0"/>
          </a:p>
        </p:txBody>
      </p:sp>
      <p:sp>
        <p:nvSpPr>
          <p:cNvPr id="52" name="hdr-Comparison w-circle"/>
          <p:cNvSpPr/>
          <p:nvPr/>
        </p:nvSpPr>
        <p:spPr>
          <a:xfrm>
            <a:off x="4114800" y="3611880"/>
            <a:ext cx="274320" cy="274320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3" name="hdr-Comparison w-icon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75150" y="3672230"/>
            <a:ext cx="153619" cy="153619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4462272" y="35935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Comparison with </a:t>
            </a:r>
            <a:r>
              <a:rPr lang="en-US" sz="150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Existing Features</a:t>
            </a:r>
            <a:endParaRPr lang="en-US" sz="15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3959352"/>
          <a:ext cx="3977640" cy="219456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Risk Calculator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Health App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CardioTwin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 risk estimation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predictions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82D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82D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 education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82D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Lifestyle guidance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82D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alert integration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82D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map navigation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82D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6" name="Text 41"/>
          <p:cNvSpPr txBox="1"/>
          <p:nvPr/>
        </p:nvSpPr>
        <p:spPr>
          <a:xfrm>
            <a:off x="4114800" y="623620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   </a:t>
            </a:r>
            <a:r>
              <a:rPr lang="en-US" sz="9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</a:t>
            </a:r>
            <a:r>
              <a:rPr lang="en-US" sz="9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Conditional    </a:t>
            </a:r>
            <a:r>
              <a:rPr lang="en-US" sz="900" b="1" dirty="0">
                <a:solidFill>
                  <a:srgbClr val="B8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9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900" dirty="0"/>
          </a:p>
        </p:txBody>
      </p:sp>
      <p:sp>
        <p:nvSpPr>
          <p:cNvPr id="57" name="hdr-Project Insi-circle"/>
          <p:cNvSpPr/>
          <p:nvPr/>
        </p:nvSpPr>
        <p:spPr>
          <a:xfrm>
            <a:off x="8321040" y="1005840"/>
            <a:ext cx="274320" cy="274320"/>
          </a:xfrm>
          <a:prstGeom prst="ellipse">
            <a:avLst/>
          </a:prstGeom>
          <a:solidFill>
            <a:srgbClr val="B82D2F"/>
          </a:solidFill>
          <a:ln w="12700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8" name="hdr-Project Insi-icon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1390" y="1066190"/>
            <a:ext cx="153619" cy="153619"/>
          </a:xfrm>
          <a:prstGeom prst="rect">
            <a:avLst/>
          </a:prstGeom>
        </p:spPr>
      </p:pic>
      <p:sp>
        <p:nvSpPr>
          <p:cNvPr id="59" name="Text 43"/>
          <p:cNvSpPr txBox="1"/>
          <p:nvPr/>
        </p:nvSpPr>
        <p:spPr>
          <a:xfrm>
            <a:off x="8668512" y="9875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2D2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Project Insights</a:t>
            </a:r>
            <a:endParaRPr lang="en-US" sz="1500" dirty="0"/>
          </a:p>
        </p:txBody>
      </p:sp>
      <p:sp>
        <p:nvSpPr>
          <p:cNvPr id="60" name="Shape 44"/>
          <p:cNvSpPr/>
          <p:nvPr/>
        </p:nvSpPr>
        <p:spPr>
          <a:xfrm>
            <a:off x="8321040" y="137160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45"/>
          <p:cNvSpPr/>
          <p:nvPr/>
        </p:nvSpPr>
        <p:spPr>
          <a:xfrm>
            <a:off x="8321040" y="1371600"/>
            <a:ext cx="3566160" cy="256032"/>
          </a:xfrm>
          <a:prstGeom prst="roundRect">
            <a:avLst>
              <a:gd name="adj" fmla="val 21429"/>
            </a:avLst>
          </a:prstGeom>
          <a:solidFill>
            <a:srgbClr val="B82D2F"/>
          </a:solidFill>
          <a:ln w="952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46"/>
          <p:cNvSpPr txBox="1"/>
          <p:nvPr/>
        </p:nvSpPr>
        <p:spPr>
          <a:xfrm>
            <a:off x="8412480" y="1371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Cardiac Risk Dashboard &amp; Explainability</a:t>
            </a:r>
            <a:endParaRPr lang="en-US" sz="1000" dirty="0"/>
          </a:p>
        </p:txBody>
      </p:sp>
      <p:graphicFrame>
        <p:nvGraphicFramePr>
          <p:cNvPr id="63" name="Chart 0"/>
          <p:cNvGraphicFramePr/>
          <p:nvPr/>
        </p:nvGraphicFramePr>
        <p:xfrm>
          <a:off x="8366760" y="1664208"/>
          <a:ext cx="1143000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64" name="Text 47"/>
          <p:cNvSpPr txBox="1"/>
          <p:nvPr/>
        </p:nvSpPr>
        <p:spPr>
          <a:xfrm>
            <a:off x="8595360" y="19842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65" name="Text 48"/>
          <p:cNvSpPr txBox="1"/>
          <p:nvPr/>
        </p:nvSpPr>
        <p:spPr>
          <a:xfrm>
            <a:off x="8366760" y="27157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</a:t>
            </a:r>
            <a:r>
              <a:rPr lang="en-US" sz="75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 </a:t>
            </a:r>
            <a:r>
              <a:rPr lang="en-US" sz="750" dirty="0">
                <a:solidFill>
                  <a:srgbClr val="B8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75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66" name="Text 49"/>
          <p:cNvSpPr txBox="1"/>
          <p:nvPr/>
        </p:nvSpPr>
        <p:spPr>
          <a:xfrm>
            <a:off x="9646920" y="168249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Factors (SHAP)</a:t>
            </a:r>
            <a:endParaRPr lang="en-US" sz="850" dirty="0"/>
          </a:p>
        </p:txBody>
      </p:sp>
      <p:graphicFrame>
        <p:nvGraphicFramePr>
          <p:cNvPr id="67" name="Chart 1"/>
          <p:cNvGraphicFramePr/>
          <p:nvPr/>
        </p:nvGraphicFramePr>
        <p:xfrm>
          <a:off x="9601200" y="1865376"/>
          <a:ext cx="224028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68" name="Shape 50"/>
          <p:cNvSpPr/>
          <p:nvPr/>
        </p:nvSpPr>
        <p:spPr>
          <a:xfrm>
            <a:off x="8321040" y="315468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51"/>
          <p:cNvSpPr/>
          <p:nvPr/>
        </p:nvSpPr>
        <p:spPr>
          <a:xfrm>
            <a:off x="8321040" y="3154680"/>
            <a:ext cx="3566160" cy="256032"/>
          </a:xfrm>
          <a:prstGeom prst="roundRect">
            <a:avLst>
              <a:gd name="adj" fmla="val 21429"/>
            </a:avLst>
          </a:prstGeom>
          <a:solidFill>
            <a:srgbClr val="B82D2F"/>
          </a:solidFill>
          <a:ln w="952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52"/>
          <p:cNvSpPr txBox="1"/>
          <p:nvPr/>
        </p:nvSpPr>
        <p:spPr>
          <a:xfrm>
            <a:off x="8412480" y="3154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Chatbot – CAD Education</a:t>
            </a:r>
            <a:endParaRPr lang="en-US" sz="1000" dirty="0"/>
          </a:p>
        </p:txBody>
      </p:sp>
      <p:sp>
        <p:nvSpPr>
          <p:cNvPr id="71" name="Shape 53"/>
          <p:cNvSpPr/>
          <p:nvPr/>
        </p:nvSpPr>
        <p:spPr>
          <a:xfrm>
            <a:off x="9235440" y="3493008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FBEAEA"/>
          </a:solidFill>
          <a:ln w="9525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54"/>
          <p:cNvSpPr txBox="1"/>
          <p:nvPr/>
        </p:nvSpPr>
        <p:spPr>
          <a:xfrm>
            <a:off x="9299448" y="349300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Coronary Artery Disease (CAD)? Can you tell me about its risk factors?</a:t>
            </a:r>
            <a:endParaRPr lang="en-US" sz="750" dirty="0"/>
          </a:p>
        </p:txBody>
      </p:sp>
      <p:pic>
        <p:nvPicPr>
          <p:cNvPr id="73" name="Image 1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12480" y="3931920"/>
            <a:ext cx="237744" cy="237744"/>
          </a:xfrm>
          <a:prstGeom prst="rect">
            <a:avLst/>
          </a:prstGeom>
        </p:spPr>
      </p:pic>
      <p:sp>
        <p:nvSpPr>
          <p:cNvPr id="74" name="Shape 55"/>
          <p:cNvSpPr/>
          <p:nvPr/>
        </p:nvSpPr>
        <p:spPr>
          <a:xfrm>
            <a:off x="8732520" y="3913632"/>
            <a:ext cx="3063240" cy="621792"/>
          </a:xfrm>
          <a:prstGeom prst="roundRect">
            <a:avLst>
              <a:gd name="adj" fmla="val 11765"/>
            </a:avLst>
          </a:prstGeom>
          <a:solidFill>
            <a:srgbClr val="F7F7F7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56"/>
          <p:cNvSpPr txBox="1"/>
          <p:nvPr/>
        </p:nvSpPr>
        <p:spPr>
          <a:xfrm>
            <a:off x="8796528" y="3913632"/>
            <a:ext cx="2944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occurs when arteries supplying the heart narrow due to plaque build-up. Common risk factors include high blood pressure, high cholesterol, diabetes, smoking, obesity, inactivity and family history.</a:t>
            </a:r>
            <a:endParaRPr lang="en-US" sz="750" dirty="0"/>
          </a:p>
        </p:txBody>
      </p:sp>
      <p:sp>
        <p:nvSpPr>
          <p:cNvPr id="76" name="Shape 57"/>
          <p:cNvSpPr/>
          <p:nvPr/>
        </p:nvSpPr>
        <p:spPr>
          <a:xfrm>
            <a:off x="8412480" y="4599432"/>
            <a:ext cx="338328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58"/>
          <p:cNvSpPr txBox="1"/>
          <p:nvPr/>
        </p:nvSpPr>
        <p:spPr>
          <a:xfrm>
            <a:off x="8503920" y="45994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message…</a:t>
            </a:r>
            <a:endParaRPr lang="en-US" sz="750" dirty="0"/>
          </a:p>
        </p:txBody>
      </p:sp>
      <p:sp>
        <p:nvSpPr>
          <p:cNvPr id="78" name="Shape 59"/>
          <p:cNvSpPr/>
          <p:nvPr/>
        </p:nvSpPr>
        <p:spPr>
          <a:xfrm>
            <a:off x="8321040" y="4983480"/>
            <a:ext cx="35661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9C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60"/>
          <p:cNvSpPr/>
          <p:nvPr/>
        </p:nvSpPr>
        <p:spPr>
          <a:xfrm>
            <a:off x="8321040" y="4983480"/>
            <a:ext cx="3566160" cy="256032"/>
          </a:xfrm>
          <a:prstGeom prst="roundRect">
            <a:avLst>
              <a:gd name="adj" fmla="val 21429"/>
            </a:avLst>
          </a:prstGeom>
          <a:solidFill>
            <a:srgbClr val="B82D2F"/>
          </a:solidFill>
          <a:ln w="9525">
            <a:solidFill>
              <a:srgbClr val="B82D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61"/>
          <p:cNvSpPr txBox="1"/>
          <p:nvPr/>
        </p:nvSpPr>
        <p:spPr>
          <a:xfrm>
            <a:off x="8412480" y="49834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Nearby Hospitals &amp; Ambulance Map</a:t>
            </a:r>
            <a:endParaRPr lang="en-US" sz="1000" dirty="0"/>
          </a:p>
        </p:txBody>
      </p:sp>
      <p:pic>
        <p:nvPicPr>
          <p:cNvPr id="81" name="Image 1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0768" y="5367528"/>
            <a:ext cx="201168" cy="201168"/>
          </a:xfrm>
          <a:prstGeom prst="rect">
            <a:avLst/>
          </a:prstGeom>
        </p:spPr>
      </p:pic>
      <p:sp>
        <p:nvSpPr>
          <p:cNvPr id="82" name="Text 62"/>
          <p:cNvSpPr txBox="1"/>
          <p:nvPr/>
        </p:nvSpPr>
        <p:spPr>
          <a:xfrm>
            <a:off x="8705088" y="53218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Hospital</a:t>
            </a:r>
            <a:r>
              <a:rPr lang="en-US" sz="9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2.3 km</a:t>
            </a:r>
            <a:endParaRPr lang="en-US" sz="900" dirty="0"/>
          </a:p>
        </p:txBody>
      </p:sp>
      <p:pic>
        <p:nvPicPr>
          <p:cNvPr id="83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0768" y="5715000"/>
            <a:ext cx="201168" cy="201168"/>
          </a:xfrm>
          <a:prstGeom prst="rect">
            <a:avLst/>
          </a:prstGeom>
        </p:spPr>
      </p:pic>
      <p:sp>
        <p:nvSpPr>
          <p:cNvPr id="84" name="Text 63"/>
          <p:cNvSpPr txBox="1"/>
          <p:nvPr/>
        </p:nvSpPr>
        <p:spPr>
          <a:xfrm>
            <a:off x="8705088" y="5669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 Medical Center</a:t>
            </a:r>
            <a:r>
              <a:rPr lang="en-US" sz="9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4.1 km</a:t>
            </a:r>
            <a:endParaRPr lang="en-US" sz="900" dirty="0"/>
          </a:p>
        </p:txBody>
      </p:sp>
      <p:pic>
        <p:nvPicPr>
          <p:cNvPr id="85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0768" y="6062472"/>
            <a:ext cx="201168" cy="201168"/>
          </a:xfrm>
          <a:prstGeom prst="rect">
            <a:avLst/>
          </a:prstGeom>
        </p:spPr>
      </p:pic>
      <p:sp>
        <p:nvSpPr>
          <p:cNvPr id="86" name="Text 64"/>
          <p:cNvSpPr txBox="1"/>
          <p:nvPr/>
        </p:nvSpPr>
        <p:spPr>
          <a:xfrm>
            <a:off x="8705088" y="6016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Hospital</a:t>
            </a:r>
            <a:r>
              <a:rPr lang="en-US" sz="900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5.8 km</a:t>
            </a:r>
            <a:endParaRPr lang="en-US" sz="900" dirty="0"/>
          </a:p>
        </p:txBody>
      </p:sp>
      <p:sp>
        <p:nvSpPr>
          <p:cNvPr id="87" name="Shape 65"/>
          <p:cNvSpPr/>
          <p:nvPr/>
        </p:nvSpPr>
        <p:spPr>
          <a:xfrm>
            <a:off x="10835640" y="5349240"/>
            <a:ext cx="960120" cy="1005840"/>
          </a:xfrm>
          <a:prstGeom prst="roundRect">
            <a:avLst>
              <a:gd name="adj" fmla="val 7619"/>
            </a:avLst>
          </a:prstGeom>
          <a:solidFill>
            <a:srgbClr val="7F1D1F"/>
          </a:solidFill>
          <a:ln w="9525">
            <a:solidFill>
              <a:srgbClr val="7F1D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8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155680" y="5413248"/>
            <a:ext cx="320040" cy="320040"/>
          </a:xfrm>
          <a:prstGeom prst="rect">
            <a:avLst/>
          </a:prstGeom>
        </p:spPr>
      </p:pic>
      <p:sp>
        <p:nvSpPr>
          <p:cNvPr id="89" name="Text 66"/>
          <p:cNvSpPr txBox="1"/>
          <p:nvPr/>
        </p:nvSpPr>
        <p:spPr>
          <a:xfrm>
            <a:off x="10835640" y="57607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</a:t>
            </a:r>
            <a:endParaRPr lang="en-US" sz="8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800" dirty="0"/>
          </a:p>
        </p:txBody>
      </p:sp>
      <p:sp>
        <p:nvSpPr>
          <p:cNvPr id="90" name="Text 67"/>
          <p:cNvSpPr txBox="1"/>
          <p:nvPr/>
        </p:nvSpPr>
        <p:spPr>
          <a:xfrm>
            <a:off x="4114800" y="6510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5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— clinical validation required; not a diagnostic device.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dioTwin Red">
  <a:themeElements>
    <a:clrScheme name="CardioTwin Red">
      <a:dk1>
        <a:srgbClr val="262626"/>
      </a:dk1>
      <a:lt1>
        <a:srgbClr val="FFFFFF"/>
      </a:lt1>
      <a:dk2>
        <a:srgbClr val="656367"/>
      </a:dk2>
      <a:lt2>
        <a:srgbClr val="F2F2F2"/>
      </a:lt2>
      <a:accent1>
        <a:srgbClr val="B82D2F"/>
      </a:accent1>
      <a:accent2>
        <a:srgbClr val="7F1D1F"/>
      </a:accent2>
      <a:accent3>
        <a:srgbClr val="656367"/>
      </a:accent3>
      <a:accent4>
        <a:srgbClr val="2E7D32"/>
      </a:accent4>
      <a:accent5>
        <a:srgbClr val="D98E04"/>
      </a:accent5>
      <a:accent6>
        <a:srgbClr val="3A3A3A"/>
      </a:accent6>
      <a:hlink>
        <a:srgbClr val="B82D2F"/>
      </a:hlink>
      <a:folHlink>
        <a:srgbClr val="7F1D1F"/>
      </a:folHlink>
    </a:clrScheme>
    <a:fontScheme name="CardioTwin Red">
      <a:majorFont>
        <a:latin typeface="Franklin Gothic Medium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1936</Words>
  <Application>Microsoft Office PowerPoint</Application>
  <PresentationFormat>Widescreen</PresentationFormat>
  <Paragraphs>395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Franklin Gothic Medium</vt:lpstr>
      <vt:lpstr>CardioTwin Red</vt:lpstr>
      <vt:lpstr>PowerPoint Presentation</vt:lpstr>
      <vt:lpstr>CARDIOTWIN: THE IDEA</vt:lpstr>
      <vt:lpstr>TECHNICAL APPROACH</vt:lpstr>
      <vt:lpstr>FEASIBILITY AND VIABILITY</vt:lpstr>
      <vt:lpstr>IMPACT AND BENEFITS</vt:lpstr>
      <vt:lpstr>RESEARCH AND 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CardioTwin – Idea Submission</dc:title>
  <dc:subject>PptxGenJS Presentation</dc:subject>
  <dc:creator>Team AyuRaksha</dc:creator>
  <cp:lastModifiedBy>Pranay Yadav</cp:lastModifiedBy>
  <cp:revision>2</cp:revision>
  <dcterms:created xsi:type="dcterms:W3CDTF">2026-10-20T06:31:13Z</dcterms:created>
  <dcterms:modified xsi:type="dcterms:W3CDTF">2026-10-20T07:08:34Z</dcterms:modified>
</cp:coreProperties>
</file>